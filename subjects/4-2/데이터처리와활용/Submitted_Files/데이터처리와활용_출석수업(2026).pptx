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68" r:id="rId4"/>
    <p:sldId id="269" r:id="rId5"/>
    <p:sldId id="271" r:id="rId6"/>
    <p:sldId id="270" r:id="rId7"/>
    <p:sldId id="272" r:id="rId8"/>
    <p:sldId id="274" r:id="rId9"/>
    <p:sldId id="273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84" r:id="rId20"/>
    <p:sldId id="285" r:id="rId21"/>
    <p:sldId id="286" r:id="rId22"/>
    <p:sldId id="287" r:id="rId23"/>
    <p:sldId id="288" r:id="rId24"/>
    <p:sldId id="289" r:id="rId25"/>
    <p:sldId id="290" r:id="rId26"/>
    <p:sldId id="292" r:id="rId27"/>
    <p:sldId id="293" r:id="rId28"/>
    <p:sldId id="267" r:id="rId29"/>
    <p:sldId id="294" r:id="rId30"/>
    <p:sldId id="295" r:id="rId31"/>
    <p:sldId id="296" r:id="rId32"/>
    <p:sldId id="297" r:id="rId33"/>
    <p:sldId id="291" r:id="rId34"/>
    <p:sldId id="298" r:id="rId35"/>
    <p:sldId id="265" r:id="rId36"/>
    <p:sldId id="324" r:id="rId37"/>
    <p:sldId id="300" r:id="rId38"/>
    <p:sldId id="301" r:id="rId39"/>
  </p:sldIdLst>
  <p:sldSz cx="18288000" cy="10287000"/>
  <p:notesSz cx="6858000" cy="9144000"/>
  <p:embeddedFontLst>
    <p:embeddedFont>
      <p:font typeface="Source Han Sans KR" panose="020B0600000101010101" charset="-127"/>
      <p:regular r:id="rId40"/>
    </p:embeddedFont>
    <p:embeddedFont>
      <p:font typeface="Source Han Sans KR Bold" panose="020B0600000101010101" charset="-127"/>
      <p:regular r:id="rId41"/>
    </p:embeddedFont>
    <p:embeddedFont>
      <p:font typeface="Source Han Sans KR Medium" panose="020B0600000101010101" charset="-127"/>
      <p:regular r:id="rId42"/>
    </p:embeddedFont>
    <p:embeddedFont>
      <p:font typeface="Malgun Gothic" panose="020B0503020000020004" pitchFamily="50" charset="-127"/>
      <p:regular r:id="rId43"/>
      <p:bold r:id="rId44"/>
    </p:embeddedFont>
    <p:embeddedFont>
      <p:font typeface="페이퍼로지 6 SemiBold" pitchFamily="2" charset="-127"/>
      <p:bold r:id="rId4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12C8C85-51F0-491E-9774-3900AFEF0FD7}" styleName="밝은 스타일 2 - 강조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밝은 스타일 2 - 강조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132" y="5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ataq.or.kr/www/sub/a_03.do" TargetMode="External"/><Relationship Id="rId2" Type="http://schemas.openxmlformats.org/officeDocument/2006/relationships/hyperlink" Target="https://www.gurubee.net/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oracle.com/kr/education/certification/#database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db-engines.com/en/ranking_trend" TargetMode="Externa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mailto:lee@uni.ac.kr" TargetMode="External"/><Relationship Id="rId2" Type="http://schemas.openxmlformats.org/officeDocument/2006/relationships/hyperlink" Target="mailto:kim@uni.ac.kr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mailto:park@uni.ac.kr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mailto:lee@uni.ac.kr" TargetMode="External"/><Relationship Id="rId2" Type="http://schemas.openxmlformats.org/officeDocument/2006/relationships/hyperlink" Target="mailto:kim@uni.ac.kr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mailto:park@uni.ac.kr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mailto:lee@uni.ac.kr" TargetMode="External"/><Relationship Id="rId2" Type="http://schemas.openxmlformats.org/officeDocument/2006/relationships/hyperlink" Target="mailto:kim@uni.ac.kr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mailto:park@uni.ac.kr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02181" y="6830035"/>
            <a:ext cx="2786611" cy="709735"/>
            <a:chOff x="0" y="0"/>
            <a:chExt cx="733922" cy="1869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33922" cy="186926"/>
            </a:xfrm>
            <a:custGeom>
              <a:avLst/>
              <a:gdLst/>
              <a:ahLst/>
              <a:cxnLst/>
              <a:rect l="l" t="t" r="r" b="b"/>
              <a:pathLst>
                <a:path w="733922" h="186926">
                  <a:moveTo>
                    <a:pt x="93463" y="0"/>
                  </a:moveTo>
                  <a:lnTo>
                    <a:pt x="640459" y="0"/>
                  </a:lnTo>
                  <a:cubicBezTo>
                    <a:pt x="665247" y="0"/>
                    <a:pt x="689020" y="9847"/>
                    <a:pt x="706548" y="27375"/>
                  </a:cubicBezTo>
                  <a:cubicBezTo>
                    <a:pt x="724075" y="44902"/>
                    <a:pt x="733922" y="68675"/>
                    <a:pt x="733922" y="93463"/>
                  </a:cubicBezTo>
                  <a:lnTo>
                    <a:pt x="733922" y="93463"/>
                  </a:lnTo>
                  <a:cubicBezTo>
                    <a:pt x="733922" y="118251"/>
                    <a:pt x="724075" y="142024"/>
                    <a:pt x="706548" y="159551"/>
                  </a:cubicBezTo>
                  <a:cubicBezTo>
                    <a:pt x="689020" y="177079"/>
                    <a:pt x="665247" y="186926"/>
                    <a:pt x="640459" y="186926"/>
                  </a:cubicBezTo>
                  <a:lnTo>
                    <a:pt x="93463" y="186926"/>
                  </a:lnTo>
                  <a:cubicBezTo>
                    <a:pt x="68675" y="186926"/>
                    <a:pt x="44902" y="177079"/>
                    <a:pt x="27375" y="159551"/>
                  </a:cubicBezTo>
                  <a:cubicBezTo>
                    <a:pt x="9847" y="142024"/>
                    <a:pt x="0" y="118251"/>
                    <a:pt x="0" y="93463"/>
                  </a:cubicBezTo>
                  <a:lnTo>
                    <a:pt x="0" y="93463"/>
                  </a:lnTo>
                  <a:cubicBezTo>
                    <a:pt x="0" y="68675"/>
                    <a:pt x="9847" y="44902"/>
                    <a:pt x="27375" y="27375"/>
                  </a:cubicBezTo>
                  <a:cubicBezTo>
                    <a:pt x="44902" y="9847"/>
                    <a:pt x="68675" y="0"/>
                    <a:pt x="93463" y="0"/>
                  </a:cubicBezTo>
                  <a:close/>
                </a:path>
              </a:pathLst>
            </a:custGeom>
            <a:solidFill>
              <a:srgbClr val="EB1D26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733922" cy="2250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507222" y="9779778"/>
            <a:ext cx="17273556" cy="0"/>
          </a:xfrm>
          <a:prstGeom prst="line">
            <a:avLst/>
          </a:prstGeom>
          <a:ln w="9525" cap="flat">
            <a:solidFill>
              <a:srgbClr val="AFAFA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6"/>
          <p:cNvSpPr txBox="1"/>
          <p:nvPr/>
        </p:nvSpPr>
        <p:spPr>
          <a:xfrm>
            <a:off x="1402180" y="4092709"/>
            <a:ext cx="7513219" cy="12947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774"/>
              </a:lnSpc>
              <a:spcBef>
                <a:spcPct val="0"/>
              </a:spcBef>
            </a:pPr>
            <a:r>
              <a:rPr lang="ko-KR" altLang="en-US" sz="7696" b="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데이터처리와활용</a:t>
            </a:r>
            <a:endParaRPr lang="en-US" sz="7696" b="1" dirty="0">
              <a:solidFill>
                <a:srgbClr val="000000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402181" y="5660047"/>
            <a:ext cx="9254160" cy="335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2026 </a:t>
            </a:r>
            <a:r>
              <a:rPr lang="ko-KR" altLang="en-US" sz="20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출석수업</a:t>
            </a:r>
            <a:endParaRPr lang="en-US" sz="2000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5621000" y="990600"/>
            <a:ext cx="1638300" cy="3358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2026-03-08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89706" y="6995990"/>
            <a:ext cx="2011561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altLang="ko-KR" sz="2000" b="1" dirty="0">
                <a:solidFill>
                  <a:srgbClr val="F9F3E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KNOU</a:t>
            </a:r>
            <a:r>
              <a:rPr lang="ko-KR" altLang="en-US" sz="2000" b="1" dirty="0">
                <a:solidFill>
                  <a:srgbClr val="F9F3E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</a:t>
            </a:r>
            <a:r>
              <a:rPr lang="ko-KR" altLang="en-US" sz="2000" b="1" dirty="0" err="1">
                <a:solidFill>
                  <a:srgbClr val="F9F3E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한종대</a:t>
            </a:r>
            <a:endParaRPr lang="en-US" sz="2000" b="1" dirty="0">
              <a:solidFill>
                <a:srgbClr val="F9F3EF"/>
              </a:solidFill>
              <a:latin typeface="Source Han Sans KR Medium"/>
              <a:ea typeface="Source Han Sans KR Medium"/>
              <a:cs typeface="Source Han Sans KR Medium"/>
              <a:sym typeface="Source Han Sans KR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7222" y="9779778"/>
            <a:ext cx="17273556" cy="0"/>
          </a:xfrm>
          <a:prstGeom prst="line">
            <a:avLst/>
          </a:prstGeom>
          <a:ln w="9525" cap="flat">
            <a:solidFill>
              <a:srgbClr val="AFAFA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Box 17"/>
          <p:cNvSpPr txBox="1"/>
          <p:nvPr/>
        </p:nvSpPr>
        <p:spPr>
          <a:xfrm>
            <a:off x="1100683" y="5143500"/>
            <a:ext cx="11929517" cy="18705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보관과 전송이 용이함</a:t>
            </a:r>
            <a:endParaRPr lang="en-US" altLang="ko-KR" sz="2800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342900" indent="-342900" algn="l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특별한 훈련 없이도 내용을 이해할 수 있음</a:t>
            </a:r>
            <a:endParaRPr lang="en-US" altLang="ko-KR" sz="2800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342900" indent="-342900" algn="l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분석가 개인의 역량에 따라 필요한 데이터를 식별하고 처리</a:t>
            </a:r>
            <a:endParaRPr lang="en-US" sz="2800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100682" y="4250569"/>
            <a:ext cx="14367918" cy="671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ko-KR" altLang="en-US" sz="3999" b="1" dirty="0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파일</a:t>
            </a:r>
            <a:r>
              <a:rPr lang="en-US" altLang="ko-KR" sz="3999" b="1" dirty="0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(csv, txt, </a:t>
            </a:r>
            <a:r>
              <a:rPr lang="en-US" altLang="ko-KR" sz="3999" b="1" dirty="0" err="1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xls</a:t>
            </a:r>
            <a:r>
              <a:rPr lang="ko-KR" altLang="en-US" sz="3999" b="1" dirty="0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등</a:t>
            </a:r>
            <a:r>
              <a:rPr lang="en-US" altLang="ko-KR" sz="3999" b="1" dirty="0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) </a:t>
            </a:r>
            <a:r>
              <a:rPr lang="ko-KR" altLang="en-US" sz="3999" b="1" dirty="0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기반으로 데이터 관리</a:t>
            </a:r>
            <a:endParaRPr lang="en-US" sz="3999" b="1" dirty="0">
              <a:solidFill>
                <a:srgbClr val="000000"/>
              </a:solidFill>
              <a:latin typeface="Source Han Sans KR Medium"/>
              <a:ea typeface="Source Han Sans KR Medium"/>
              <a:cs typeface="Source Han Sans KR Medium"/>
              <a:sym typeface="Source Han Sans KR Medium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654050" y="1084026"/>
            <a:ext cx="3314700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ko-KR" altLang="en-US" sz="4500" b="1" dirty="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파일 시스템</a:t>
            </a:r>
            <a:endParaRPr lang="en-US" sz="4500" b="1" dirty="0">
              <a:solidFill>
                <a:srgbClr val="EB1D26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687867" y="606425"/>
            <a:ext cx="1885504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ko-KR" altLang="en-US" sz="2499" b="1" dirty="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데이터베이스</a:t>
            </a:r>
            <a:endParaRPr lang="en-US" sz="2499" b="1" dirty="0">
              <a:solidFill>
                <a:srgbClr val="EB1D26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72AAAED8-3E5B-61B1-1846-3F09D77069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73315"/>
            <a:ext cx="10955279" cy="14384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24F86-5A62-05A8-F344-0731B0B17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BF413C25-FD65-DA2A-F7D8-A5C89B4E1CA6}"/>
              </a:ext>
            </a:extLst>
          </p:cNvPr>
          <p:cNvSpPr/>
          <p:nvPr/>
        </p:nvSpPr>
        <p:spPr>
          <a:xfrm>
            <a:off x="507222" y="9779778"/>
            <a:ext cx="17273556" cy="0"/>
          </a:xfrm>
          <a:prstGeom prst="line">
            <a:avLst/>
          </a:prstGeom>
          <a:ln w="9525" cap="flat">
            <a:solidFill>
              <a:srgbClr val="AFAFA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E55B27AB-F017-BD76-9B9C-0AF30FE57B18}"/>
              </a:ext>
            </a:extLst>
          </p:cNvPr>
          <p:cNvSpPr txBox="1"/>
          <p:nvPr/>
        </p:nvSpPr>
        <p:spPr>
          <a:xfrm>
            <a:off x="1100682" y="5801928"/>
            <a:ext cx="14367918" cy="671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ko-KR" altLang="en-US" sz="3999" b="1" dirty="0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데이터 중복</a:t>
            </a:r>
            <a:r>
              <a:rPr lang="en-US" altLang="ko-KR" sz="3999" b="1" dirty="0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/</a:t>
            </a:r>
            <a:r>
              <a:rPr lang="ko-KR" altLang="en-US" sz="3999" b="1" dirty="0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불일치</a:t>
            </a:r>
            <a:r>
              <a:rPr lang="en-US" altLang="ko-KR" sz="3999" b="1" dirty="0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/</a:t>
            </a:r>
            <a:r>
              <a:rPr lang="ko-KR" altLang="en-US" sz="3999" b="1" dirty="0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고립의 문제</a:t>
            </a:r>
            <a:endParaRPr lang="en-US" sz="3999" b="1" dirty="0">
              <a:solidFill>
                <a:srgbClr val="000000"/>
              </a:solidFill>
              <a:latin typeface="Source Han Sans KR Medium"/>
              <a:ea typeface="Source Han Sans KR Medium"/>
              <a:cs typeface="Source Han Sans KR Medium"/>
              <a:sym typeface="Source Han Sans KR Medium"/>
            </a:endParaRP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994B200A-BC74-6323-9A20-02B8ED81DDC0}"/>
              </a:ext>
            </a:extLst>
          </p:cNvPr>
          <p:cNvSpPr txBox="1"/>
          <p:nvPr/>
        </p:nvSpPr>
        <p:spPr>
          <a:xfrm>
            <a:off x="654050" y="1084026"/>
            <a:ext cx="3314700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ko-KR" altLang="en-US" sz="4500" b="1" dirty="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파일 시스템</a:t>
            </a:r>
            <a:endParaRPr lang="en-US" sz="4500" b="1" dirty="0">
              <a:solidFill>
                <a:srgbClr val="EB1D26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D3C7C2BF-8B98-1980-8294-6F789FA0E6C7}"/>
              </a:ext>
            </a:extLst>
          </p:cNvPr>
          <p:cNvSpPr txBox="1"/>
          <p:nvPr/>
        </p:nvSpPr>
        <p:spPr>
          <a:xfrm>
            <a:off x="687867" y="606425"/>
            <a:ext cx="1885504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ko-KR" altLang="en-US" sz="2499" b="1" dirty="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데이터베이스</a:t>
            </a:r>
            <a:endParaRPr lang="en-US" sz="2499" b="1" dirty="0">
              <a:solidFill>
                <a:srgbClr val="EB1D26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4" name="TextBox 17">
            <a:extLst>
              <a:ext uri="{FF2B5EF4-FFF2-40B4-BE49-F238E27FC236}">
                <a16:creationId xmlns:a16="http://schemas.microsoft.com/office/drawing/2014/main" id="{F4CE654C-04F5-64B2-B4CB-9AFC87F63D11}"/>
              </a:ext>
            </a:extLst>
          </p:cNvPr>
          <p:cNvSpPr txBox="1"/>
          <p:nvPr/>
        </p:nvSpPr>
        <p:spPr>
          <a:xfrm>
            <a:off x="1100683" y="6694859"/>
            <a:ext cx="11929517" cy="18705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박소연 강사의 연락처는 어느 파일이 맞는가</a:t>
            </a:r>
            <a:r>
              <a:rPr lang="en-US" altLang="ko-KR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?</a:t>
            </a:r>
          </a:p>
          <a:p>
            <a:pPr marL="342900" indent="-342900" algn="l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아침 필라테스 수업은 있는가</a:t>
            </a:r>
            <a:r>
              <a:rPr lang="en-US" altLang="ko-KR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, </a:t>
            </a:r>
            <a:r>
              <a:rPr lang="ko-KR" altLang="en-US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없는가</a:t>
            </a:r>
            <a:r>
              <a:rPr lang="en-US" altLang="ko-KR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?</a:t>
            </a:r>
          </a:p>
          <a:p>
            <a:pPr marL="342900" indent="-342900" algn="l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 err="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최다은</a:t>
            </a:r>
            <a:r>
              <a:rPr lang="ko-KR" altLang="en-US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강사의 수업을 듣는 고유한 학생은 몇 명인가</a:t>
            </a:r>
            <a:r>
              <a:rPr lang="en-US" altLang="ko-KR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?</a:t>
            </a:r>
            <a:endParaRPr lang="en-US" sz="2800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6DCF73C-D09C-41C3-78F4-8A7B7E4DC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67297"/>
            <a:ext cx="14795406" cy="170460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0230802-803A-C94B-3D8D-FFFB048EB2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110543"/>
            <a:ext cx="7594632" cy="112337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BABEDE0-24B9-AD71-138A-668FF5DDD6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9668" y="4023704"/>
            <a:ext cx="7015702" cy="1210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559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AEBCD-79B1-19C8-E489-A5140A4C4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75A124E8-5B34-6E28-B779-D6BEFCFD611E}"/>
              </a:ext>
            </a:extLst>
          </p:cNvPr>
          <p:cNvSpPr/>
          <p:nvPr/>
        </p:nvSpPr>
        <p:spPr>
          <a:xfrm>
            <a:off x="507222" y="9779778"/>
            <a:ext cx="17273556" cy="0"/>
          </a:xfrm>
          <a:prstGeom prst="line">
            <a:avLst/>
          </a:prstGeom>
          <a:ln w="9525" cap="flat">
            <a:solidFill>
              <a:srgbClr val="AFAFA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7DA21DD5-FAC9-3EAF-DBDF-89E22AC608FE}"/>
              </a:ext>
            </a:extLst>
          </p:cNvPr>
          <p:cNvSpPr txBox="1"/>
          <p:nvPr/>
        </p:nvSpPr>
        <p:spPr>
          <a:xfrm>
            <a:off x="1100682" y="5801928"/>
            <a:ext cx="14367918" cy="671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ko-KR" altLang="en-US" sz="3999" b="1" dirty="0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데이터 중복</a:t>
            </a:r>
            <a:r>
              <a:rPr lang="en-US" altLang="ko-KR" sz="3999" b="1" dirty="0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/</a:t>
            </a:r>
            <a:r>
              <a:rPr lang="ko-KR" altLang="en-US" sz="3999" b="1" dirty="0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불일치</a:t>
            </a:r>
            <a:r>
              <a:rPr lang="en-US" altLang="ko-KR" sz="3999" b="1" dirty="0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/</a:t>
            </a:r>
            <a:r>
              <a:rPr lang="ko-KR" altLang="en-US" sz="3999" b="1" dirty="0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고립의 문제</a:t>
            </a:r>
            <a:endParaRPr lang="en-US" sz="3999" b="1" dirty="0">
              <a:solidFill>
                <a:srgbClr val="000000"/>
              </a:solidFill>
              <a:latin typeface="Source Han Sans KR Medium"/>
              <a:ea typeface="Source Han Sans KR Medium"/>
              <a:cs typeface="Source Han Sans KR Medium"/>
              <a:sym typeface="Source Han Sans KR Medium"/>
            </a:endParaRP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CCBDE7F9-96B3-5AD9-BB78-AC89D7A1BD91}"/>
              </a:ext>
            </a:extLst>
          </p:cNvPr>
          <p:cNvSpPr txBox="1"/>
          <p:nvPr/>
        </p:nvSpPr>
        <p:spPr>
          <a:xfrm>
            <a:off x="654050" y="1084026"/>
            <a:ext cx="3314700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ko-KR" altLang="en-US" sz="4500" b="1" dirty="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파일 시스템</a:t>
            </a:r>
            <a:endParaRPr lang="en-US" sz="4500" b="1" dirty="0">
              <a:solidFill>
                <a:srgbClr val="EB1D26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2237FA1C-2032-ADF6-5CA0-7899250A92F5}"/>
              </a:ext>
            </a:extLst>
          </p:cNvPr>
          <p:cNvSpPr txBox="1"/>
          <p:nvPr/>
        </p:nvSpPr>
        <p:spPr>
          <a:xfrm>
            <a:off x="687867" y="606425"/>
            <a:ext cx="1885504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ko-KR" altLang="en-US" sz="2499" b="1" dirty="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데이터베이스</a:t>
            </a:r>
            <a:endParaRPr lang="en-US" sz="2499" b="1" dirty="0">
              <a:solidFill>
                <a:srgbClr val="EB1D26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4" name="TextBox 17">
            <a:extLst>
              <a:ext uri="{FF2B5EF4-FFF2-40B4-BE49-F238E27FC236}">
                <a16:creationId xmlns:a16="http://schemas.microsoft.com/office/drawing/2014/main" id="{6A39C085-CBB9-1828-08C9-03983D76DBDF}"/>
              </a:ext>
            </a:extLst>
          </p:cNvPr>
          <p:cNvSpPr txBox="1"/>
          <p:nvPr/>
        </p:nvSpPr>
        <p:spPr>
          <a:xfrm>
            <a:off x="1100683" y="6694859"/>
            <a:ext cx="11929517" cy="18705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박소연 강사의 연락처는 어느 파일이 맞는가</a:t>
            </a:r>
            <a:r>
              <a:rPr lang="en-US" altLang="ko-KR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?</a:t>
            </a:r>
          </a:p>
          <a:p>
            <a:pPr marL="342900" indent="-342900" algn="l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아침 필라테스 수업은 있는가</a:t>
            </a:r>
            <a:r>
              <a:rPr lang="en-US" altLang="ko-KR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, </a:t>
            </a:r>
            <a:r>
              <a:rPr lang="ko-KR" altLang="en-US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없는가</a:t>
            </a:r>
            <a:r>
              <a:rPr lang="en-US" altLang="ko-KR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?</a:t>
            </a:r>
          </a:p>
          <a:p>
            <a:pPr marL="342900" indent="-342900" algn="l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 err="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최다은</a:t>
            </a:r>
            <a:r>
              <a:rPr lang="ko-KR" altLang="en-US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강사의 수업을 듣는 고유한 학생은 몇 명인가</a:t>
            </a:r>
            <a:r>
              <a:rPr lang="en-US" altLang="ko-KR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?</a:t>
            </a:r>
            <a:endParaRPr lang="en-US" sz="2800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E1928EB-5EC4-EF37-11C1-024A5CD336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67297"/>
            <a:ext cx="14795406" cy="170460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A6DF9D0-6702-85DD-5487-7C2BF41D3E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110543"/>
            <a:ext cx="7594632" cy="112337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EB90136-DC1E-F92F-F088-FFF80E7CA3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9668" y="4023704"/>
            <a:ext cx="7015702" cy="1210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882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609FC-CD34-82C2-147A-0E277DA85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711B21CD-D1AC-E78A-E082-FF4EA2535CA3}"/>
              </a:ext>
            </a:extLst>
          </p:cNvPr>
          <p:cNvSpPr/>
          <p:nvPr/>
        </p:nvSpPr>
        <p:spPr>
          <a:xfrm>
            <a:off x="507222" y="9779778"/>
            <a:ext cx="17273556" cy="0"/>
          </a:xfrm>
          <a:prstGeom prst="line">
            <a:avLst/>
          </a:prstGeom>
          <a:ln w="9525" cap="flat">
            <a:solidFill>
              <a:srgbClr val="AFAFA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86F42A7-5C0E-D453-29ED-A802D288C6DE}"/>
              </a:ext>
            </a:extLst>
          </p:cNvPr>
          <p:cNvSpPr txBox="1"/>
          <p:nvPr/>
        </p:nvSpPr>
        <p:spPr>
          <a:xfrm>
            <a:off x="1100682" y="5801928"/>
            <a:ext cx="14367918" cy="671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ko-KR" altLang="en-US" sz="3999" b="1" dirty="0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버전 관리와 보안 문제</a:t>
            </a:r>
            <a:endParaRPr lang="en-US" sz="3999" b="1" dirty="0">
              <a:solidFill>
                <a:srgbClr val="000000"/>
              </a:solidFill>
              <a:latin typeface="Source Han Sans KR Medium"/>
              <a:ea typeface="Source Han Sans KR Medium"/>
              <a:cs typeface="Source Han Sans KR Medium"/>
              <a:sym typeface="Source Han Sans KR Medium"/>
            </a:endParaRP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6C0AF077-5414-5B95-A6A5-1E4806BDC68F}"/>
              </a:ext>
            </a:extLst>
          </p:cNvPr>
          <p:cNvSpPr txBox="1"/>
          <p:nvPr/>
        </p:nvSpPr>
        <p:spPr>
          <a:xfrm>
            <a:off x="654050" y="1084026"/>
            <a:ext cx="3314700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ko-KR" altLang="en-US" sz="4500" b="1" dirty="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파일 시스템</a:t>
            </a:r>
            <a:endParaRPr lang="en-US" sz="4500" b="1" dirty="0">
              <a:solidFill>
                <a:srgbClr val="EB1D26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01D4B6E0-27CA-7B9F-92C7-A9ED4F9367DA}"/>
              </a:ext>
            </a:extLst>
          </p:cNvPr>
          <p:cNvSpPr txBox="1"/>
          <p:nvPr/>
        </p:nvSpPr>
        <p:spPr>
          <a:xfrm>
            <a:off x="687867" y="606425"/>
            <a:ext cx="1885504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ko-KR" altLang="en-US" sz="2499" b="1" dirty="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데이터베이스</a:t>
            </a:r>
            <a:endParaRPr lang="en-US" sz="2499" b="1" dirty="0">
              <a:solidFill>
                <a:srgbClr val="EB1D26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4" name="TextBox 17">
            <a:extLst>
              <a:ext uri="{FF2B5EF4-FFF2-40B4-BE49-F238E27FC236}">
                <a16:creationId xmlns:a16="http://schemas.microsoft.com/office/drawing/2014/main" id="{4CEBE905-C00F-AF7A-1D16-FF452C3047A3}"/>
              </a:ext>
            </a:extLst>
          </p:cNvPr>
          <p:cNvSpPr txBox="1"/>
          <p:nvPr/>
        </p:nvSpPr>
        <p:spPr>
          <a:xfrm>
            <a:off x="1100683" y="6694859"/>
            <a:ext cx="11929517" cy="18705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어떤 파일의 내용을 참조해야 하는가</a:t>
            </a:r>
            <a:r>
              <a:rPr lang="en-US" altLang="ko-KR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?</a:t>
            </a:r>
          </a:p>
          <a:p>
            <a:pPr marL="342900" indent="-342900" algn="l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‘</a:t>
            </a:r>
            <a:r>
              <a:rPr lang="ko-KR" altLang="en-US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읽으라고</a:t>
            </a:r>
            <a:r>
              <a:rPr lang="en-US" altLang="ko-KR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’ </a:t>
            </a:r>
            <a:r>
              <a:rPr lang="ko-KR" altLang="en-US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준 파일과 </a:t>
            </a:r>
            <a:r>
              <a:rPr lang="en-US" altLang="ko-KR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‘</a:t>
            </a:r>
            <a:r>
              <a:rPr lang="ko-KR" altLang="en-US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쓰라고</a:t>
            </a:r>
            <a:r>
              <a:rPr lang="en-US" altLang="ko-KR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‘ </a:t>
            </a:r>
            <a:r>
              <a:rPr lang="ko-KR" altLang="en-US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준 파일은 어떻게 구분하는가</a:t>
            </a:r>
            <a:r>
              <a:rPr lang="en-US" altLang="ko-KR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?</a:t>
            </a:r>
          </a:p>
          <a:p>
            <a:pPr marL="342900" indent="-342900" algn="l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나에게 엑셀이 없다면</a:t>
            </a:r>
            <a:r>
              <a:rPr lang="en-US" altLang="ko-KR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?</a:t>
            </a:r>
            <a:endParaRPr lang="en-US" sz="2800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2FF0043-E478-81C5-F318-7CE25F2CA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681" y="2180684"/>
            <a:ext cx="11446853" cy="2971531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2327F8B-6FFD-0A3A-461D-73D7FD3206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5693664"/>
            <a:ext cx="6498410" cy="3309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898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9BC1F-399F-E818-6264-5757F70FE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631E36EF-0C61-96DF-3646-197A1D3E2CF3}"/>
              </a:ext>
            </a:extLst>
          </p:cNvPr>
          <p:cNvSpPr/>
          <p:nvPr/>
        </p:nvSpPr>
        <p:spPr>
          <a:xfrm>
            <a:off x="507222" y="9779778"/>
            <a:ext cx="17273556" cy="0"/>
          </a:xfrm>
          <a:prstGeom prst="line">
            <a:avLst/>
          </a:prstGeom>
          <a:ln w="9525" cap="flat">
            <a:solidFill>
              <a:srgbClr val="AFAFA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D53A63C8-6082-558B-689F-870A0574564B}"/>
              </a:ext>
            </a:extLst>
          </p:cNvPr>
          <p:cNvSpPr txBox="1"/>
          <p:nvPr/>
        </p:nvSpPr>
        <p:spPr>
          <a:xfrm>
            <a:off x="1100682" y="5801928"/>
            <a:ext cx="14367918" cy="671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ko-KR" altLang="en-US" sz="3999" b="1" dirty="0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동시성 제어 문제</a:t>
            </a:r>
            <a:endParaRPr lang="en-US" sz="3999" b="1" dirty="0">
              <a:solidFill>
                <a:srgbClr val="000000"/>
              </a:solidFill>
              <a:latin typeface="Source Han Sans KR Medium"/>
              <a:ea typeface="Source Han Sans KR Medium"/>
              <a:cs typeface="Source Han Sans KR Medium"/>
              <a:sym typeface="Source Han Sans KR Medium"/>
            </a:endParaRP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88B7800F-1E23-9DAA-0E48-FA9F275D1F65}"/>
              </a:ext>
            </a:extLst>
          </p:cNvPr>
          <p:cNvSpPr txBox="1"/>
          <p:nvPr/>
        </p:nvSpPr>
        <p:spPr>
          <a:xfrm>
            <a:off x="654050" y="1084026"/>
            <a:ext cx="3314700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ko-KR" altLang="en-US" sz="4500" b="1" dirty="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파일 시스템</a:t>
            </a:r>
            <a:endParaRPr lang="en-US" sz="4500" b="1" dirty="0">
              <a:solidFill>
                <a:srgbClr val="EB1D26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14FF6E0F-8719-AA59-82A6-2E2C5B2A35A7}"/>
              </a:ext>
            </a:extLst>
          </p:cNvPr>
          <p:cNvSpPr txBox="1"/>
          <p:nvPr/>
        </p:nvSpPr>
        <p:spPr>
          <a:xfrm>
            <a:off x="687867" y="606425"/>
            <a:ext cx="1885504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ko-KR" altLang="en-US" sz="2499" b="1" dirty="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데이터베이스</a:t>
            </a:r>
            <a:endParaRPr lang="en-US" sz="2499" b="1" dirty="0">
              <a:solidFill>
                <a:srgbClr val="EB1D26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4" name="TextBox 17">
            <a:extLst>
              <a:ext uri="{FF2B5EF4-FFF2-40B4-BE49-F238E27FC236}">
                <a16:creationId xmlns:a16="http://schemas.microsoft.com/office/drawing/2014/main" id="{B2947D88-04D2-63B8-14B8-B595EB722DD4}"/>
              </a:ext>
            </a:extLst>
          </p:cNvPr>
          <p:cNvSpPr txBox="1"/>
          <p:nvPr/>
        </p:nvSpPr>
        <p:spPr>
          <a:xfrm>
            <a:off x="1100683" y="6694859"/>
            <a:ext cx="11929517" cy="31632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동시에 여러 사람이 작업하는 경우 작업의 우선 순위는</a:t>
            </a:r>
            <a:r>
              <a:rPr lang="en-US" altLang="ko-KR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?</a:t>
            </a:r>
          </a:p>
          <a:p>
            <a:pPr marL="800100" lvl="1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ko-KR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check-in, check-out </a:t>
            </a:r>
            <a:r>
              <a:rPr lang="ko-KR" altLang="en-US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모델</a:t>
            </a:r>
            <a:endParaRPr lang="en-US" altLang="ko-KR" sz="2800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800100" lvl="1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ko-KR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transaction </a:t>
            </a:r>
            <a:r>
              <a:rPr lang="ko-KR" altLang="en-US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모델</a:t>
            </a:r>
            <a:endParaRPr lang="en-US" altLang="ko-KR" sz="2800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342900" indent="-342900" algn="l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김철수의 성적은 얼마가 되어야 하는가</a:t>
            </a:r>
            <a:r>
              <a:rPr lang="en-US" altLang="ko-KR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?</a:t>
            </a:r>
          </a:p>
          <a:p>
            <a:pPr marL="342900" indent="-342900" algn="l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endParaRPr lang="en-US" sz="2800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9959259E-8982-62EA-6572-8D22849063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682" y="2067298"/>
            <a:ext cx="9949017" cy="3407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584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9D06E-66B3-D12B-C340-F809BE2F4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3FA5C674-0F13-FCA9-C3DC-EEBF147ACC47}"/>
              </a:ext>
            </a:extLst>
          </p:cNvPr>
          <p:cNvSpPr/>
          <p:nvPr/>
        </p:nvSpPr>
        <p:spPr>
          <a:xfrm>
            <a:off x="507222" y="9779778"/>
            <a:ext cx="17273556" cy="0"/>
          </a:xfrm>
          <a:prstGeom prst="line">
            <a:avLst/>
          </a:prstGeom>
          <a:ln w="9525" cap="flat">
            <a:solidFill>
              <a:srgbClr val="AFAFA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72A372E9-0EC1-8AE4-AFC4-3575395BE350}"/>
              </a:ext>
            </a:extLst>
          </p:cNvPr>
          <p:cNvSpPr txBox="1"/>
          <p:nvPr/>
        </p:nvSpPr>
        <p:spPr>
          <a:xfrm>
            <a:off x="1100682" y="2095500"/>
            <a:ext cx="14367918" cy="671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 dirty="0" err="1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DataBase</a:t>
            </a:r>
            <a:r>
              <a:rPr lang="en-US" sz="3999" b="1" dirty="0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Management System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2976B7BC-C099-490D-593E-A4560386DD9B}"/>
              </a:ext>
            </a:extLst>
          </p:cNvPr>
          <p:cNvSpPr txBox="1"/>
          <p:nvPr/>
        </p:nvSpPr>
        <p:spPr>
          <a:xfrm>
            <a:off x="654050" y="1084026"/>
            <a:ext cx="3314700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sz="4500" b="1" dirty="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DBMS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833196E7-D121-A639-7713-283D66E3275E}"/>
              </a:ext>
            </a:extLst>
          </p:cNvPr>
          <p:cNvSpPr txBox="1"/>
          <p:nvPr/>
        </p:nvSpPr>
        <p:spPr>
          <a:xfrm>
            <a:off x="687867" y="606425"/>
            <a:ext cx="1885504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ko-KR" altLang="en-US" sz="2499" b="1" dirty="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데이터베이스</a:t>
            </a:r>
            <a:endParaRPr lang="en-US" sz="2499" b="1" dirty="0">
              <a:solidFill>
                <a:srgbClr val="EB1D26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4" name="TextBox 17">
            <a:extLst>
              <a:ext uri="{FF2B5EF4-FFF2-40B4-BE49-F238E27FC236}">
                <a16:creationId xmlns:a16="http://schemas.microsoft.com/office/drawing/2014/main" id="{1DCD6662-27D1-A955-FE9A-FD7621F7B113}"/>
              </a:ext>
            </a:extLst>
          </p:cNvPr>
          <p:cNvSpPr txBox="1"/>
          <p:nvPr/>
        </p:nvSpPr>
        <p:spPr>
          <a:xfrm>
            <a:off x="1100683" y="2988431"/>
            <a:ext cx="11929517" cy="57485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파일 시스템 기반의 데이터베이스의 단점을 해결하기 위해 사용</a:t>
            </a:r>
            <a:endParaRPr lang="en-US" altLang="ko-KR" sz="2800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800100" lvl="1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모든 데이터를 한 곳에 저장</a:t>
            </a:r>
            <a:r>
              <a:rPr lang="en-US" altLang="ko-KR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(</a:t>
            </a:r>
            <a:r>
              <a:rPr lang="ko-KR" altLang="en-US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통합된 데이터</a:t>
            </a:r>
            <a:r>
              <a:rPr lang="en-US" altLang="ko-KR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)</a:t>
            </a:r>
          </a:p>
          <a:p>
            <a:pPr marL="800100" lvl="1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필요한 사람에게 동시에 데이터 접근을 제공</a:t>
            </a:r>
            <a:r>
              <a:rPr lang="en-US" altLang="ko-KR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(</a:t>
            </a:r>
            <a:r>
              <a:rPr lang="ko-KR" altLang="en-US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공유된 데이터</a:t>
            </a:r>
            <a:r>
              <a:rPr lang="en-US" altLang="ko-KR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)</a:t>
            </a:r>
          </a:p>
          <a:p>
            <a:pPr marL="800100" lvl="1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데이터를 저장하고 관리할 수 있는 수단 제공</a:t>
            </a:r>
            <a:r>
              <a:rPr lang="en-US" altLang="ko-KR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(</a:t>
            </a:r>
            <a:r>
              <a:rPr lang="ko-KR" altLang="en-US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저장된 데이터</a:t>
            </a:r>
            <a:r>
              <a:rPr lang="en-US" altLang="ko-KR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)</a:t>
            </a:r>
          </a:p>
          <a:p>
            <a:pPr marL="800100" lvl="1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실시간으로 데이터의 변화를 수용</a:t>
            </a:r>
            <a:r>
              <a:rPr lang="en-US" altLang="ko-KR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(</a:t>
            </a:r>
            <a:r>
              <a:rPr lang="ko-KR" altLang="en-US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운영 데이터</a:t>
            </a:r>
            <a:r>
              <a:rPr lang="en-US" altLang="ko-KR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)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ko-KR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…</a:t>
            </a:r>
            <a:r>
              <a:rPr lang="ko-KR" altLang="en-US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하는 소프트웨어 시스템</a:t>
            </a:r>
            <a:r>
              <a:rPr lang="en-US" altLang="ko-KR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(DBMS)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endParaRPr lang="en-US" altLang="ko-KR" sz="2800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endParaRPr lang="en-US" altLang="ko-KR" sz="2800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800100" lvl="1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endParaRPr lang="en-US" sz="2800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</p:spTree>
    <p:extLst>
      <p:ext uri="{BB962C8B-B14F-4D97-AF65-F5344CB8AC3E}">
        <p14:creationId xmlns:p14="http://schemas.microsoft.com/office/powerpoint/2010/main" val="17221879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A740E-F184-B9EA-DD30-CB3E79A2E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1E9FBAB4-BB9E-C9CA-3C4F-BA22899380DF}"/>
              </a:ext>
            </a:extLst>
          </p:cNvPr>
          <p:cNvSpPr/>
          <p:nvPr/>
        </p:nvSpPr>
        <p:spPr>
          <a:xfrm>
            <a:off x="507222" y="9779778"/>
            <a:ext cx="17273556" cy="0"/>
          </a:xfrm>
          <a:prstGeom prst="line">
            <a:avLst/>
          </a:prstGeom>
          <a:ln w="9525" cap="flat">
            <a:solidFill>
              <a:srgbClr val="AFAFA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4DA3CE2B-3866-2726-834F-18D4B326479F}"/>
              </a:ext>
            </a:extLst>
          </p:cNvPr>
          <p:cNvSpPr txBox="1"/>
          <p:nvPr/>
        </p:nvSpPr>
        <p:spPr>
          <a:xfrm>
            <a:off x="1100682" y="2095500"/>
            <a:ext cx="14367918" cy="671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DBMS</a:t>
            </a:r>
            <a:r>
              <a:rPr lang="ko-KR" altLang="en-US" sz="3999" b="1" dirty="0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의 핵심 기능</a:t>
            </a:r>
            <a:endParaRPr lang="en-US" sz="3999" b="1" dirty="0">
              <a:solidFill>
                <a:srgbClr val="000000"/>
              </a:solidFill>
              <a:latin typeface="Source Han Sans KR Medium"/>
              <a:ea typeface="Source Han Sans KR Medium"/>
              <a:cs typeface="Source Han Sans KR Medium"/>
              <a:sym typeface="Source Han Sans KR Medium"/>
            </a:endParaRP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622F533-6B9F-3503-CF19-EACA9E5F75B4}"/>
              </a:ext>
            </a:extLst>
          </p:cNvPr>
          <p:cNvSpPr txBox="1"/>
          <p:nvPr/>
        </p:nvSpPr>
        <p:spPr>
          <a:xfrm>
            <a:off x="654050" y="1084026"/>
            <a:ext cx="3314700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sz="4500" b="1" dirty="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DBMS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98888DB3-740B-7D8F-C88C-1D73CC54FA7D}"/>
              </a:ext>
            </a:extLst>
          </p:cNvPr>
          <p:cNvSpPr txBox="1"/>
          <p:nvPr/>
        </p:nvSpPr>
        <p:spPr>
          <a:xfrm>
            <a:off x="687867" y="606425"/>
            <a:ext cx="1885504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ko-KR" altLang="en-US" sz="2499" b="1" dirty="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데이터베이스</a:t>
            </a:r>
            <a:endParaRPr lang="en-US" sz="2499" b="1" dirty="0">
              <a:solidFill>
                <a:srgbClr val="EB1D26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4" name="TextBox 17">
            <a:extLst>
              <a:ext uri="{FF2B5EF4-FFF2-40B4-BE49-F238E27FC236}">
                <a16:creationId xmlns:a16="http://schemas.microsoft.com/office/drawing/2014/main" id="{8EE8A98C-69EC-88C9-D1F3-E80B855A2F41}"/>
              </a:ext>
            </a:extLst>
          </p:cNvPr>
          <p:cNvSpPr txBox="1"/>
          <p:nvPr/>
        </p:nvSpPr>
        <p:spPr>
          <a:xfrm>
            <a:off x="1100683" y="2988431"/>
            <a:ext cx="11929517" cy="44559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논리적</a:t>
            </a:r>
            <a:r>
              <a:rPr lang="en-US" altLang="ko-KR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, </a:t>
            </a:r>
            <a:r>
              <a:rPr lang="ko-KR" altLang="en-US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물리적 독립성</a:t>
            </a:r>
            <a:endParaRPr lang="en-US" altLang="ko-KR" sz="2800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342900" indent="-342900" algn="l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데이터 무결성</a:t>
            </a:r>
            <a:endParaRPr lang="en-US" altLang="ko-KR" sz="2800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342900" indent="-342900" algn="l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개체 무결성</a:t>
            </a:r>
            <a:r>
              <a:rPr lang="en-US" altLang="ko-KR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, </a:t>
            </a:r>
            <a:r>
              <a:rPr lang="ko-KR" altLang="en-US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참조 무결성</a:t>
            </a:r>
            <a:r>
              <a:rPr lang="en-US" altLang="ko-KR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, </a:t>
            </a:r>
            <a:r>
              <a:rPr lang="ko-KR" altLang="en-US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도메인 무결성</a:t>
            </a:r>
            <a:endParaRPr lang="en-US" altLang="ko-KR" sz="2800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342900" indent="-342900" algn="l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동시성 제어와 보안</a:t>
            </a:r>
            <a:r>
              <a:rPr lang="en-US" altLang="ko-KR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, </a:t>
            </a:r>
            <a:r>
              <a:rPr lang="ko-KR" altLang="en-US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백업</a:t>
            </a:r>
            <a:r>
              <a:rPr lang="en-US" altLang="ko-KR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, </a:t>
            </a:r>
            <a:r>
              <a:rPr lang="ko-KR" altLang="en-US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복구</a:t>
            </a:r>
            <a:endParaRPr lang="en-US" altLang="ko-KR" sz="2800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342900" indent="-342900" algn="l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endParaRPr lang="en-US" altLang="ko-KR" sz="2800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endParaRPr lang="en-US" altLang="ko-KR" sz="2800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800100" lvl="1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endParaRPr lang="en-US" sz="2800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</p:spTree>
    <p:extLst>
      <p:ext uri="{BB962C8B-B14F-4D97-AF65-F5344CB8AC3E}">
        <p14:creationId xmlns:p14="http://schemas.microsoft.com/office/powerpoint/2010/main" val="29434940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7C515244-8610-653F-C472-D839B0302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6326" y="1866900"/>
            <a:ext cx="12355348" cy="6302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940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D1EC2-DEBF-5176-65B8-F3B2BA65A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C7AC609E-8160-C3C6-265C-539D626C7D53}"/>
              </a:ext>
            </a:extLst>
          </p:cNvPr>
          <p:cNvSpPr/>
          <p:nvPr/>
        </p:nvSpPr>
        <p:spPr>
          <a:xfrm>
            <a:off x="507222" y="9779778"/>
            <a:ext cx="17273556" cy="0"/>
          </a:xfrm>
          <a:prstGeom prst="line">
            <a:avLst/>
          </a:prstGeom>
          <a:ln w="9525" cap="flat">
            <a:solidFill>
              <a:srgbClr val="AFAFA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8E7349E4-83FD-DA02-3D83-19ABCB520652}"/>
              </a:ext>
            </a:extLst>
          </p:cNvPr>
          <p:cNvSpPr txBox="1"/>
          <p:nvPr/>
        </p:nvSpPr>
        <p:spPr>
          <a:xfrm>
            <a:off x="1100682" y="2095500"/>
            <a:ext cx="14367918" cy="671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ko-KR" altLang="en-US" sz="3999" b="1" dirty="0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언제 데이터베이스를 사용해야 할까</a:t>
            </a:r>
            <a:r>
              <a:rPr lang="en-US" altLang="ko-KR" sz="3999" b="1" dirty="0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?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64A6054E-E0FE-6435-4314-966F2A52EE8C}"/>
              </a:ext>
            </a:extLst>
          </p:cNvPr>
          <p:cNvSpPr txBox="1"/>
          <p:nvPr/>
        </p:nvSpPr>
        <p:spPr>
          <a:xfrm>
            <a:off x="654050" y="1084026"/>
            <a:ext cx="9023350" cy="755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sz="4500" b="1" dirty="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DBMS </a:t>
            </a:r>
            <a:r>
              <a:rPr lang="en-US" sz="4500" b="1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vs</a:t>
            </a:r>
            <a:r>
              <a:rPr lang="ko-KR" altLang="en-US" sz="4500" b="1" dirty="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파일</a:t>
            </a:r>
            <a:endParaRPr lang="en-US" sz="4500" b="1" dirty="0">
              <a:solidFill>
                <a:srgbClr val="EB1D26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A6C291F1-16F2-53AC-9FB8-E59DB28DEA84}"/>
              </a:ext>
            </a:extLst>
          </p:cNvPr>
          <p:cNvSpPr txBox="1"/>
          <p:nvPr/>
        </p:nvSpPr>
        <p:spPr>
          <a:xfrm>
            <a:off x="687867" y="606425"/>
            <a:ext cx="1885504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ko-KR" altLang="en-US" sz="2499" b="1" dirty="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데이터베이스</a:t>
            </a:r>
            <a:endParaRPr lang="en-US" sz="2499" b="1" dirty="0">
              <a:solidFill>
                <a:srgbClr val="EB1D26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4" name="TextBox 17">
            <a:extLst>
              <a:ext uri="{FF2B5EF4-FFF2-40B4-BE49-F238E27FC236}">
                <a16:creationId xmlns:a16="http://schemas.microsoft.com/office/drawing/2014/main" id="{2231541C-6A7D-0CFC-21E6-C45652B7664E}"/>
              </a:ext>
            </a:extLst>
          </p:cNvPr>
          <p:cNvSpPr txBox="1"/>
          <p:nvPr/>
        </p:nvSpPr>
        <p:spPr>
          <a:xfrm>
            <a:off x="1100683" y="2988431"/>
            <a:ext cx="13758317" cy="1224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ko-KR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DBMS</a:t>
            </a:r>
            <a:r>
              <a:rPr lang="ko-KR" altLang="en-US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를 다중 사용자에게 실시간으로 공개하고 운영하는 것은 많은 노력이 </a:t>
            </a:r>
            <a:r>
              <a:rPr lang="ko-KR" altLang="en-US" sz="2800" dirty="0" err="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들어감</a:t>
            </a:r>
            <a:endParaRPr lang="en-US" altLang="ko-KR" sz="2800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342900" indent="-342900" algn="l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데이터 과학자의 본질적인 능력</a:t>
            </a:r>
            <a:r>
              <a:rPr lang="en-US" altLang="ko-KR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(</a:t>
            </a:r>
            <a:r>
              <a:rPr lang="ko-KR" altLang="en-US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데이터를 조직화하고 분석하는 능력</a:t>
            </a:r>
            <a:r>
              <a:rPr lang="en-US" altLang="ko-KR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)</a:t>
            </a:r>
            <a:r>
              <a:rPr lang="ko-KR" altLang="en-US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과는 별개의 역량 필요 </a:t>
            </a:r>
            <a:endParaRPr lang="en-US" sz="2800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9EF172-0C41-BA58-83F3-F09C5677EB3D}"/>
              </a:ext>
            </a:extLst>
          </p:cNvPr>
          <p:cNvSpPr txBox="1"/>
          <p:nvPr/>
        </p:nvSpPr>
        <p:spPr>
          <a:xfrm>
            <a:off x="550985" y="9775451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hlinkClick r:id="rId2"/>
              </a:rPr>
              <a:t>https://www.gurubee.net/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D2B09B-924E-22ED-B8CC-F408486D0F72}"/>
              </a:ext>
            </a:extLst>
          </p:cNvPr>
          <p:cNvSpPr txBox="1"/>
          <p:nvPr/>
        </p:nvSpPr>
        <p:spPr>
          <a:xfrm>
            <a:off x="593725" y="9311243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hlinkClick r:id="rId3"/>
              </a:rPr>
              <a:t>https://www.dataq.or.kr/www/sub/a_03.do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650591-B5D7-4A8E-07D3-CC4726E093BB}"/>
              </a:ext>
            </a:extLst>
          </p:cNvPr>
          <p:cNvSpPr txBox="1"/>
          <p:nvPr/>
        </p:nvSpPr>
        <p:spPr>
          <a:xfrm>
            <a:off x="574431" y="8879808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hlinkClick r:id="rId4"/>
              </a:rPr>
              <a:t>https://www.oracle.com/kr/education/certification/#database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10" name="TextBox 24">
            <a:extLst>
              <a:ext uri="{FF2B5EF4-FFF2-40B4-BE49-F238E27FC236}">
                <a16:creationId xmlns:a16="http://schemas.microsoft.com/office/drawing/2014/main" id="{BD34FBB4-FD16-CE54-1A62-6685E84B1C98}"/>
              </a:ext>
            </a:extLst>
          </p:cNvPr>
          <p:cNvSpPr txBox="1"/>
          <p:nvPr/>
        </p:nvSpPr>
        <p:spPr>
          <a:xfrm>
            <a:off x="1100682" y="4749276"/>
            <a:ext cx="14367918" cy="671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ko-KR" altLang="en-US" sz="3999" b="1" dirty="0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그래도 써야 하는 경우</a:t>
            </a:r>
            <a:endParaRPr lang="en-US" altLang="ko-KR" sz="3999" b="1" dirty="0">
              <a:solidFill>
                <a:srgbClr val="000000"/>
              </a:solidFill>
              <a:latin typeface="Source Han Sans KR Medium"/>
              <a:ea typeface="Source Han Sans KR Medium"/>
              <a:cs typeface="Source Han Sans KR Medium"/>
              <a:sym typeface="Source Han Sans KR Medium"/>
            </a:endParaRPr>
          </a:p>
        </p:txBody>
      </p:sp>
      <p:sp>
        <p:nvSpPr>
          <p:cNvPr id="11" name="TextBox 17">
            <a:extLst>
              <a:ext uri="{FF2B5EF4-FFF2-40B4-BE49-F238E27FC236}">
                <a16:creationId xmlns:a16="http://schemas.microsoft.com/office/drawing/2014/main" id="{BB9355B1-F9F0-F086-3A57-FEADA81EBC31}"/>
              </a:ext>
            </a:extLst>
          </p:cNvPr>
          <p:cNvSpPr txBox="1"/>
          <p:nvPr/>
        </p:nvSpPr>
        <p:spPr>
          <a:xfrm>
            <a:off x="1100683" y="5642207"/>
            <a:ext cx="13758317" cy="18705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데이터가 개인용 컴퓨터에서 분석하기 너무 큰 경우</a:t>
            </a:r>
            <a:endParaRPr lang="en-US" altLang="ko-KR" sz="2800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342900" indent="-342900" algn="l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여러 사람이 동시에 사용해야 하는 데이터</a:t>
            </a:r>
            <a:r>
              <a:rPr lang="en-US" altLang="ko-KR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(</a:t>
            </a:r>
            <a:r>
              <a:rPr lang="ko-KR" altLang="en-US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특히 동시에 수정할 수 있는 경우</a:t>
            </a:r>
            <a:r>
              <a:rPr lang="en-US" altLang="ko-KR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)</a:t>
            </a:r>
          </a:p>
          <a:p>
            <a:pPr marL="342900" indent="-342900" algn="l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빈번하게 수정되는 데이터</a:t>
            </a:r>
            <a:endParaRPr lang="en-US" sz="2800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</p:spTree>
    <p:extLst>
      <p:ext uri="{BB962C8B-B14F-4D97-AF65-F5344CB8AC3E}">
        <p14:creationId xmlns:p14="http://schemas.microsoft.com/office/powerpoint/2010/main" val="24932563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7187E-6367-D261-2A29-B1F0CC887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957B429B-C2AC-9DDC-58D5-E638749115EC}"/>
              </a:ext>
            </a:extLst>
          </p:cNvPr>
          <p:cNvSpPr/>
          <p:nvPr/>
        </p:nvSpPr>
        <p:spPr>
          <a:xfrm>
            <a:off x="507222" y="9779778"/>
            <a:ext cx="17273556" cy="0"/>
          </a:xfrm>
          <a:prstGeom prst="line">
            <a:avLst/>
          </a:prstGeom>
          <a:ln w="9525" cap="flat">
            <a:solidFill>
              <a:srgbClr val="AFAFA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7D4E5682-651F-81B8-799D-D2670872DE63}"/>
              </a:ext>
            </a:extLst>
          </p:cNvPr>
          <p:cNvSpPr txBox="1"/>
          <p:nvPr/>
        </p:nvSpPr>
        <p:spPr>
          <a:xfrm>
            <a:off x="1100682" y="2095500"/>
            <a:ext cx="14367918" cy="671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DBMS</a:t>
            </a:r>
            <a:r>
              <a:rPr lang="ko-KR" altLang="en-US" sz="3999" b="1" dirty="0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의 종류</a:t>
            </a:r>
            <a:endParaRPr lang="en-US" sz="3999" b="1" dirty="0">
              <a:solidFill>
                <a:srgbClr val="000000"/>
              </a:solidFill>
              <a:latin typeface="Source Han Sans KR Medium"/>
              <a:ea typeface="Source Han Sans KR Medium"/>
              <a:cs typeface="Source Han Sans KR Medium"/>
              <a:sym typeface="Source Han Sans KR Medium"/>
            </a:endParaRP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1E1AF820-83A2-AEFD-3234-33272E5A1B18}"/>
              </a:ext>
            </a:extLst>
          </p:cNvPr>
          <p:cNvSpPr txBox="1"/>
          <p:nvPr/>
        </p:nvSpPr>
        <p:spPr>
          <a:xfrm>
            <a:off x="654050" y="1084026"/>
            <a:ext cx="3314700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sz="4500" b="1" dirty="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DBMS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C8E1F0A-7F94-4942-D50C-76444BF72BAB}"/>
              </a:ext>
            </a:extLst>
          </p:cNvPr>
          <p:cNvSpPr txBox="1"/>
          <p:nvPr/>
        </p:nvSpPr>
        <p:spPr>
          <a:xfrm>
            <a:off x="687867" y="606425"/>
            <a:ext cx="1885504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ko-KR" altLang="en-US" sz="2499" b="1" dirty="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데이터베이스</a:t>
            </a:r>
            <a:endParaRPr lang="en-US" sz="2499" b="1" dirty="0">
              <a:solidFill>
                <a:srgbClr val="EB1D26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4" name="TextBox 17">
            <a:extLst>
              <a:ext uri="{FF2B5EF4-FFF2-40B4-BE49-F238E27FC236}">
                <a16:creationId xmlns:a16="http://schemas.microsoft.com/office/drawing/2014/main" id="{0116B0B6-FCC1-D2F3-7F86-50C31EC0C761}"/>
              </a:ext>
            </a:extLst>
          </p:cNvPr>
          <p:cNvSpPr txBox="1"/>
          <p:nvPr/>
        </p:nvSpPr>
        <p:spPr>
          <a:xfrm>
            <a:off x="1100683" y="2988431"/>
            <a:ext cx="11929517" cy="44559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관계형 데이터베이스</a:t>
            </a:r>
            <a:endParaRPr lang="en-US" altLang="ko-KR" sz="2800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800100" lvl="1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테이블 구조에 기반한 정형 데이터 처리</a:t>
            </a:r>
            <a:endParaRPr lang="en-US" altLang="ko-KR" sz="2800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800100" lvl="1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SQL(Structured Query Language) </a:t>
            </a:r>
            <a:r>
              <a:rPr lang="ko-KR" altLang="en-US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사용</a:t>
            </a:r>
            <a:endParaRPr lang="en-US" altLang="ko-KR" sz="2800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비관계형 데이터베이스</a:t>
            </a:r>
            <a:endParaRPr lang="en-US" altLang="ko-KR" sz="2800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800100" lvl="1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비정형</a:t>
            </a:r>
            <a:r>
              <a:rPr lang="en-US" altLang="ko-KR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/</a:t>
            </a:r>
            <a:r>
              <a:rPr lang="ko-KR" altLang="en-US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반정형 데이터 처리</a:t>
            </a:r>
            <a:endParaRPr lang="en-US" altLang="ko-KR" sz="2800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800100" lvl="1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문서형</a:t>
            </a:r>
            <a:r>
              <a:rPr lang="en-US" altLang="ko-KR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/</a:t>
            </a:r>
            <a:r>
              <a:rPr lang="ko-KR" altLang="en-US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키</a:t>
            </a:r>
            <a:r>
              <a:rPr lang="en-US" altLang="ko-KR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-</a:t>
            </a:r>
            <a:r>
              <a:rPr lang="ko-KR" altLang="en-US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값</a:t>
            </a:r>
            <a:r>
              <a:rPr lang="en-US" altLang="ko-KR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/</a:t>
            </a:r>
            <a:r>
              <a:rPr lang="ko-KR" altLang="en-US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그래프 </a:t>
            </a:r>
            <a:r>
              <a:rPr lang="en-US" altLang="ko-KR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DB </a:t>
            </a:r>
            <a:r>
              <a:rPr lang="ko-KR" altLang="en-US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등</a:t>
            </a:r>
            <a:endParaRPr lang="en-US" altLang="ko-KR" sz="2800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800100" lvl="1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endParaRPr lang="en-US" sz="2800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</p:spTree>
    <p:extLst>
      <p:ext uri="{BB962C8B-B14F-4D97-AF65-F5344CB8AC3E}">
        <p14:creationId xmlns:p14="http://schemas.microsoft.com/office/powerpoint/2010/main" val="31994049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51893-4FB1-A5BF-C79D-4A3B3C0CFE29}"/>
              </a:ext>
            </a:extLst>
          </p:cNvPr>
          <p:cNvSpPr txBox="1"/>
          <p:nvPr/>
        </p:nvSpPr>
        <p:spPr>
          <a:xfrm>
            <a:off x="685800" y="9410700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hlinkClick r:id="rId2"/>
              </a:rPr>
              <a:t>https://db-engines.com/en/ranking_trend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8F4D1A2-8557-04BF-63EB-3DBCCC14C4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1257300"/>
            <a:ext cx="11586747" cy="685359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42676058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289B8-0A3C-12F9-E1C0-1EBE3A8B4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27743332-7943-7459-2304-7CBFC07F9EEC}"/>
              </a:ext>
            </a:extLst>
          </p:cNvPr>
          <p:cNvSpPr/>
          <p:nvPr/>
        </p:nvSpPr>
        <p:spPr>
          <a:xfrm>
            <a:off x="507222" y="9779778"/>
            <a:ext cx="17273556" cy="0"/>
          </a:xfrm>
          <a:prstGeom prst="line">
            <a:avLst/>
          </a:prstGeom>
          <a:ln w="9525" cap="flat">
            <a:solidFill>
              <a:srgbClr val="AFAFA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CF1E5D4C-3FCE-BCE5-9AFA-56B6A19E173F}"/>
              </a:ext>
            </a:extLst>
          </p:cNvPr>
          <p:cNvSpPr txBox="1"/>
          <p:nvPr/>
        </p:nvSpPr>
        <p:spPr>
          <a:xfrm>
            <a:off x="1100682" y="2095500"/>
            <a:ext cx="14367918" cy="671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ko-KR" altLang="en-US" sz="3999" b="1" dirty="0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관계형 모델의 정의</a:t>
            </a:r>
            <a:endParaRPr lang="en-US" sz="3999" b="1" dirty="0">
              <a:solidFill>
                <a:srgbClr val="000000"/>
              </a:solidFill>
              <a:latin typeface="Source Han Sans KR Medium"/>
              <a:ea typeface="Source Han Sans KR Medium"/>
              <a:cs typeface="Source Han Sans KR Medium"/>
              <a:sym typeface="Source Han Sans KR Medium"/>
            </a:endParaRP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E4788597-6F3D-EEC3-FD5F-E165B9C3F2FA}"/>
              </a:ext>
            </a:extLst>
          </p:cNvPr>
          <p:cNvSpPr txBox="1"/>
          <p:nvPr/>
        </p:nvSpPr>
        <p:spPr>
          <a:xfrm>
            <a:off x="654050" y="1084026"/>
            <a:ext cx="3314700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ko-KR" altLang="en-US" sz="4500" b="1" dirty="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관계형 모델</a:t>
            </a:r>
            <a:endParaRPr lang="en-US" sz="4500" b="1" dirty="0">
              <a:solidFill>
                <a:srgbClr val="EB1D26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132C2BEC-0D6C-4728-7121-63E3061B5ABD}"/>
              </a:ext>
            </a:extLst>
          </p:cNvPr>
          <p:cNvSpPr txBox="1"/>
          <p:nvPr/>
        </p:nvSpPr>
        <p:spPr>
          <a:xfrm>
            <a:off x="687867" y="606425"/>
            <a:ext cx="1885504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ko-KR" altLang="en-US" sz="2499" b="1" dirty="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데이터베이스</a:t>
            </a:r>
            <a:endParaRPr lang="en-US" sz="2499" b="1" dirty="0">
              <a:solidFill>
                <a:srgbClr val="EB1D26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4" name="TextBox 17">
            <a:extLst>
              <a:ext uri="{FF2B5EF4-FFF2-40B4-BE49-F238E27FC236}">
                <a16:creationId xmlns:a16="http://schemas.microsoft.com/office/drawing/2014/main" id="{4D14B663-1502-FC70-4A63-837540AF90AD}"/>
              </a:ext>
            </a:extLst>
          </p:cNvPr>
          <p:cNvSpPr txBox="1"/>
          <p:nvPr/>
        </p:nvSpPr>
        <p:spPr>
          <a:xfrm>
            <a:off x="1100683" y="2988431"/>
            <a:ext cx="11929517" cy="25169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c</a:t>
            </a:r>
            <a:r>
              <a:rPr lang="ko-KR" altLang="en-US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드라이브의 </a:t>
            </a:r>
            <a:r>
              <a:rPr lang="en-US" altLang="ko-KR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a </a:t>
            </a:r>
            <a:r>
              <a:rPr lang="ko-KR" altLang="en-US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폴더에 있는 </a:t>
            </a:r>
            <a:r>
              <a:rPr lang="en-US" altLang="ko-KR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x.csv</a:t>
            </a:r>
            <a:r>
              <a:rPr lang="ko-KR" altLang="en-US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파일에서 세 번째 </a:t>
            </a:r>
            <a:r>
              <a:rPr lang="en-US" altLang="ko-KR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, </a:t>
            </a:r>
            <a:r>
              <a:rPr lang="ko-KR" altLang="en-US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뒤에 있는 값들을 찾아서 같은 폴더의 </a:t>
            </a:r>
            <a:r>
              <a:rPr lang="en-US" altLang="ko-KR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y. csv</a:t>
            </a:r>
            <a:r>
              <a:rPr lang="ko-KR" altLang="en-US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파일에서 네 번째 </a:t>
            </a:r>
            <a:r>
              <a:rPr lang="en-US" altLang="ko-KR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, </a:t>
            </a:r>
            <a:r>
              <a:rPr lang="ko-KR" altLang="en-US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뒤에 있는 값 중 같은 값들에 해당하는 줄의 다섯 번째 </a:t>
            </a:r>
            <a:r>
              <a:rPr lang="en-US" altLang="ko-KR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, </a:t>
            </a:r>
            <a:r>
              <a:rPr lang="ko-KR" altLang="en-US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뒤에 있는 값을 받아와서 그걸 날짜로 취급해서 계산한 후</a:t>
            </a:r>
            <a:r>
              <a:rPr lang="en-US" altLang="ko-KR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…</a:t>
            </a:r>
          </a:p>
          <a:p>
            <a:pPr marL="342900" indent="-342900" algn="l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‘</a:t>
            </a:r>
            <a:r>
              <a:rPr lang="ko-KR" altLang="en-US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내가 서점에서 카드를 긁은 날의 날짜는</a:t>
            </a:r>
            <a:r>
              <a:rPr lang="en-US" altLang="ko-KR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?’ – </a:t>
            </a:r>
            <a:r>
              <a:rPr lang="ko-KR" altLang="en-US" sz="2800" b="1" dirty="0">
                <a:solidFill>
                  <a:srgbClr val="EE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선언적 질의</a:t>
            </a:r>
            <a:endParaRPr lang="en-US" sz="2800" b="1" dirty="0">
              <a:solidFill>
                <a:srgbClr val="EE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4C33B9-5D42-2190-7CEF-867BE2AAE83D}"/>
              </a:ext>
            </a:extLst>
          </p:cNvPr>
          <p:cNvSpPr txBox="1"/>
          <p:nvPr/>
        </p:nvSpPr>
        <p:spPr>
          <a:xfrm>
            <a:off x="1630619" y="5741264"/>
            <a:ext cx="91440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dirty="0"/>
              <a:t>SELECT </a:t>
            </a:r>
            <a:r>
              <a:rPr lang="ko-KR" altLang="en-US" sz="3200" dirty="0" err="1"/>
              <a:t>purchase_date</a:t>
            </a:r>
            <a:endParaRPr lang="ko-KR" altLang="en-US" sz="3200" dirty="0"/>
          </a:p>
          <a:p>
            <a:r>
              <a:rPr lang="ko-KR" altLang="en-US" sz="3200" dirty="0"/>
              <a:t>FROM </a:t>
            </a:r>
            <a:r>
              <a:rPr lang="ko-KR" altLang="en-US" sz="3200" dirty="0" err="1"/>
              <a:t>transactions</a:t>
            </a:r>
            <a:endParaRPr lang="ko-KR" altLang="en-US" sz="3200" dirty="0"/>
          </a:p>
          <a:p>
            <a:r>
              <a:rPr lang="ko-KR" altLang="en-US" sz="3200" dirty="0"/>
              <a:t>WHERE </a:t>
            </a:r>
            <a:r>
              <a:rPr lang="ko-KR" altLang="en-US" sz="3200" dirty="0" err="1"/>
              <a:t>store_type</a:t>
            </a:r>
            <a:r>
              <a:rPr lang="ko-KR" altLang="en-US" sz="3200" dirty="0"/>
              <a:t> = '서점'</a:t>
            </a:r>
          </a:p>
          <a:p>
            <a:r>
              <a:rPr lang="ko-KR" altLang="en-US" sz="3200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0048723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64ABBEE-F666-01A2-81B8-4405C3CFF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590" y="1638299"/>
            <a:ext cx="16928820" cy="7010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299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F4D04-5DDA-E1F7-2FB4-ED13458FE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80DD54AD-0868-C702-1229-4CE284D6AF04}"/>
              </a:ext>
            </a:extLst>
          </p:cNvPr>
          <p:cNvSpPr/>
          <p:nvPr/>
        </p:nvSpPr>
        <p:spPr>
          <a:xfrm>
            <a:off x="507222" y="9779778"/>
            <a:ext cx="17273556" cy="0"/>
          </a:xfrm>
          <a:prstGeom prst="line">
            <a:avLst/>
          </a:prstGeom>
          <a:ln w="9525" cap="flat">
            <a:solidFill>
              <a:srgbClr val="AFAFA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E6729A10-4D5B-AD47-1D70-3D2B3DEBAC49}"/>
              </a:ext>
            </a:extLst>
          </p:cNvPr>
          <p:cNvSpPr txBox="1"/>
          <p:nvPr/>
        </p:nvSpPr>
        <p:spPr>
          <a:xfrm>
            <a:off x="1100682" y="2095500"/>
            <a:ext cx="14367918" cy="671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ko-KR" altLang="en-US" sz="3999" b="1" dirty="0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각 </a:t>
            </a:r>
            <a:r>
              <a:rPr lang="ko-KR" altLang="en-US" sz="3999" b="1" dirty="0" err="1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튜플을</a:t>
            </a:r>
            <a:r>
              <a:rPr lang="ko-KR" altLang="en-US" sz="3999" b="1" dirty="0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고유하게 식별할 수 있는 기준점</a:t>
            </a:r>
            <a:endParaRPr lang="en-US" sz="3999" b="1" dirty="0">
              <a:solidFill>
                <a:srgbClr val="000000"/>
              </a:solidFill>
              <a:latin typeface="Source Han Sans KR Medium"/>
              <a:ea typeface="Source Han Sans KR Medium"/>
              <a:cs typeface="Source Han Sans KR Medium"/>
              <a:sym typeface="Source Han Sans KR Medium"/>
            </a:endParaRP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90E194-1524-8A15-8ED6-5EBBC0CC2979}"/>
              </a:ext>
            </a:extLst>
          </p:cNvPr>
          <p:cNvSpPr txBox="1"/>
          <p:nvPr/>
        </p:nvSpPr>
        <p:spPr>
          <a:xfrm>
            <a:off x="654050" y="1084026"/>
            <a:ext cx="3314700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ko-KR" altLang="en-US" sz="4500" b="1" dirty="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키</a:t>
            </a:r>
            <a:r>
              <a:rPr lang="en-US" altLang="ko-KR" sz="4500" b="1" dirty="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(KEY)</a:t>
            </a:r>
            <a:endParaRPr lang="en-US" sz="4500" b="1" dirty="0">
              <a:solidFill>
                <a:srgbClr val="EB1D26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8968B486-6D10-C3D9-376E-E02F198712EE}"/>
              </a:ext>
            </a:extLst>
          </p:cNvPr>
          <p:cNvSpPr txBox="1"/>
          <p:nvPr/>
        </p:nvSpPr>
        <p:spPr>
          <a:xfrm>
            <a:off x="687867" y="606425"/>
            <a:ext cx="1885504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ko-KR" altLang="en-US" sz="2499" b="1" dirty="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데이터베이스</a:t>
            </a:r>
            <a:endParaRPr lang="en-US" sz="2499" b="1" dirty="0">
              <a:solidFill>
                <a:srgbClr val="EB1D26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3" name="TextBox 17">
            <a:extLst>
              <a:ext uri="{FF2B5EF4-FFF2-40B4-BE49-F238E27FC236}">
                <a16:creationId xmlns:a16="http://schemas.microsoft.com/office/drawing/2014/main" id="{207CA23A-FAE0-E1E2-CC44-BCAD6DA14F1A}"/>
              </a:ext>
            </a:extLst>
          </p:cNvPr>
          <p:cNvSpPr txBox="1"/>
          <p:nvPr/>
        </p:nvSpPr>
        <p:spPr>
          <a:xfrm>
            <a:off x="1100682" y="3124998"/>
            <a:ext cx="11929517" cy="18705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>
                <a:solidFill>
                  <a:srgbClr val="EE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박소연 강사의 </a:t>
            </a:r>
            <a:r>
              <a:rPr lang="ko-KR" altLang="en-US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연락처는 어느 파일이 맞는가</a:t>
            </a:r>
            <a:r>
              <a:rPr lang="en-US" altLang="ko-KR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?</a:t>
            </a:r>
          </a:p>
          <a:p>
            <a:pPr marL="342900" indent="-342900" algn="l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>
                <a:solidFill>
                  <a:srgbClr val="EE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아침 필라테스 수업은 </a:t>
            </a:r>
            <a:r>
              <a:rPr lang="ko-KR" altLang="en-US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있는가</a:t>
            </a:r>
            <a:r>
              <a:rPr lang="en-US" altLang="ko-KR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, </a:t>
            </a:r>
            <a:r>
              <a:rPr lang="ko-KR" altLang="en-US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없는가</a:t>
            </a:r>
            <a:r>
              <a:rPr lang="en-US" altLang="ko-KR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?</a:t>
            </a:r>
          </a:p>
          <a:p>
            <a:pPr marL="342900" indent="-342900" algn="l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 err="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최다은</a:t>
            </a:r>
            <a:r>
              <a:rPr lang="ko-KR" altLang="en-US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강사의 수업을 듣는 </a:t>
            </a:r>
            <a:r>
              <a:rPr lang="ko-KR" altLang="en-US" sz="2800" dirty="0">
                <a:solidFill>
                  <a:srgbClr val="EE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고유한 학생은 </a:t>
            </a:r>
            <a:r>
              <a:rPr lang="ko-KR" altLang="en-US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몇 명인가</a:t>
            </a:r>
            <a:r>
              <a:rPr lang="en-US" altLang="ko-KR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?</a:t>
            </a:r>
            <a:endParaRPr lang="en-US" sz="2800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  <p:sp>
        <p:nvSpPr>
          <p:cNvPr id="6" name="TextBox 24">
            <a:extLst>
              <a:ext uri="{FF2B5EF4-FFF2-40B4-BE49-F238E27FC236}">
                <a16:creationId xmlns:a16="http://schemas.microsoft.com/office/drawing/2014/main" id="{52614E25-1097-0A7F-E2BE-00CA52B83973}"/>
              </a:ext>
            </a:extLst>
          </p:cNvPr>
          <p:cNvSpPr txBox="1"/>
          <p:nvPr/>
        </p:nvSpPr>
        <p:spPr>
          <a:xfrm>
            <a:off x="1100682" y="5601809"/>
            <a:ext cx="14367918" cy="671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ko-KR" altLang="en-US" sz="3999" b="1" dirty="0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집합의 원소를 구분할 수 있는 기준이 필요</a:t>
            </a:r>
            <a:endParaRPr lang="en-US" sz="3999" b="1" dirty="0">
              <a:solidFill>
                <a:srgbClr val="000000"/>
              </a:solidFill>
              <a:latin typeface="Source Han Sans KR Medium"/>
              <a:ea typeface="Source Han Sans KR Medium"/>
              <a:cs typeface="Source Han Sans KR Medium"/>
              <a:sym typeface="Source Han Sans KR Medium"/>
            </a:endParaRPr>
          </a:p>
        </p:txBody>
      </p:sp>
    </p:spTree>
    <p:extLst>
      <p:ext uri="{BB962C8B-B14F-4D97-AF65-F5344CB8AC3E}">
        <p14:creationId xmlns:p14="http://schemas.microsoft.com/office/powerpoint/2010/main" val="41413490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CC3A0-7A43-2CAD-E91D-28EAFBDAA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B24D0D47-EB14-6628-7689-AC77D0EA12AB}"/>
              </a:ext>
            </a:extLst>
          </p:cNvPr>
          <p:cNvSpPr/>
          <p:nvPr/>
        </p:nvSpPr>
        <p:spPr>
          <a:xfrm>
            <a:off x="507222" y="9779778"/>
            <a:ext cx="17273556" cy="0"/>
          </a:xfrm>
          <a:prstGeom prst="line">
            <a:avLst/>
          </a:prstGeom>
          <a:ln w="9525" cap="flat">
            <a:solidFill>
              <a:srgbClr val="AFAFA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FC4691FB-881B-ABFB-2845-2BD6A504D8F7}"/>
              </a:ext>
            </a:extLst>
          </p:cNvPr>
          <p:cNvSpPr txBox="1"/>
          <p:nvPr/>
        </p:nvSpPr>
        <p:spPr>
          <a:xfrm>
            <a:off x="1100682" y="2095500"/>
            <a:ext cx="14367918" cy="671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ko-KR" altLang="en-US" sz="3999" b="1" dirty="0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테이블의 각 </a:t>
            </a:r>
            <a:r>
              <a:rPr lang="ko-KR" altLang="en-US" sz="3999" b="1" dirty="0" err="1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튜플을</a:t>
            </a:r>
            <a:r>
              <a:rPr lang="ko-KR" altLang="en-US" sz="3999" b="1" dirty="0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</a:t>
            </a:r>
            <a:r>
              <a:rPr lang="ko-KR" altLang="en-US" sz="3999" b="1" dirty="0">
                <a:solidFill>
                  <a:srgbClr val="EE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고유</a:t>
            </a:r>
            <a:r>
              <a:rPr lang="ko-KR" altLang="en-US" sz="3999" b="1" dirty="0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하게 식별하는 속성 또는 속성들의 집합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296EE54E-A621-33E3-3AD9-90C01982831C}"/>
              </a:ext>
            </a:extLst>
          </p:cNvPr>
          <p:cNvSpPr txBox="1"/>
          <p:nvPr/>
        </p:nvSpPr>
        <p:spPr>
          <a:xfrm>
            <a:off x="654050" y="1084026"/>
            <a:ext cx="3314700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ko-KR" altLang="en-US" sz="4500" b="1" dirty="0" err="1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기본키</a:t>
            </a:r>
            <a:r>
              <a:rPr lang="en-US" altLang="ko-KR" sz="4500" b="1" dirty="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(PK)</a:t>
            </a:r>
            <a:endParaRPr lang="en-US" sz="4500" b="1" dirty="0">
              <a:solidFill>
                <a:srgbClr val="EB1D26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7E34DCA2-FD36-E15C-4607-8EF5461F860F}"/>
              </a:ext>
            </a:extLst>
          </p:cNvPr>
          <p:cNvSpPr txBox="1"/>
          <p:nvPr/>
        </p:nvSpPr>
        <p:spPr>
          <a:xfrm>
            <a:off x="687867" y="606425"/>
            <a:ext cx="1885504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ko-KR" altLang="en-US" sz="2499" b="1" dirty="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데이터베이스</a:t>
            </a:r>
            <a:endParaRPr lang="en-US" sz="2499" b="1" dirty="0">
              <a:solidFill>
                <a:srgbClr val="EB1D26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3" name="TextBox 17">
            <a:extLst>
              <a:ext uri="{FF2B5EF4-FFF2-40B4-BE49-F238E27FC236}">
                <a16:creationId xmlns:a16="http://schemas.microsoft.com/office/drawing/2014/main" id="{EA09795A-FA64-7395-7264-2AF3C0B10B83}"/>
              </a:ext>
            </a:extLst>
          </p:cNvPr>
          <p:cNvSpPr txBox="1"/>
          <p:nvPr/>
        </p:nvSpPr>
        <p:spPr>
          <a:xfrm>
            <a:off x="1100682" y="3124998"/>
            <a:ext cx="11929517" cy="38095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유일성 </a:t>
            </a:r>
            <a:r>
              <a:rPr lang="en-US" altLang="ko-KR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: </a:t>
            </a:r>
            <a:r>
              <a:rPr lang="ko-KR" altLang="en-US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테이블 내에서 중복이 없을 것</a:t>
            </a:r>
            <a:endParaRPr lang="en-US" altLang="ko-KR" sz="2800" dirty="0"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800100" lvl="1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 err="1">
                <a:latin typeface="Source Han Sans KR"/>
                <a:ea typeface="Source Han Sans KR"/>
                <a:cs typeface="Source Han Sans KR"/>
                <a:sym typeface="Source Han Sans KR"/>
              </a:rPr>
              <a:t>한종대</a:t>
            </a:r>
            <a:r>
              <a:rPr lang="en-US" altLang="ko-KR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,</a:t>
            </a:r>
            <a:r>
              <a:rPr lang="ko-KR" altLang="en-US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r>
              <a:rPr lang="ko-KR" altLang="en-US" sz="2800" dirty="0" err="1">
                <a:latin typeface="Source Han Sans KR"/>
                <a:ea typeface="Source Han Sans KR"/>
                <a:cs typeface="Source Han Sans KR"/>
                <a:sym typeface="Source Han Sans KR"/>
              </a:rPr>
              <a:t>한종대</a:t>
            </a:r>
            <a:r>
              <a:rPr lang="en-US" altLang="ko-KR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1, </a:t>
            </a:r>
            <a:r>
              <a:rPr lang="ko-KR" altLang="en-US" sz="2800" dirty="0" err="1">
                <a:latin typeface="Source Han Sans KR"/>
                <a:ea typeface="Source Han Sans KR"/>
                <a:cs typeface="Source Han Sans KR"/>
                <a:sym typeface="Source Han Sans KR"/>
              </a:rPr>
              <a:t>한종대</a:t>
            </a:r>
            <a:r>
              <a:rPr lang="en-US" altLang="ko-KR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81(X)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NOT</a:t>
            </a:r>
            <a:r>
              <a:rPr lang="ko-KR" altLang="en-US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r>
              <a:rPr lang="en-US" altLang="ko-KR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NULL</a:t>
            </a:r>
            <a:r>
              <a:rPr lang="ko-KR" altLang="en-US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r>
              <a:rPr lang="en-US" altLang="ko-KR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:</a:t>
            </a:r>
            <a:r>
              <a:rPr lang="ko-KR" altLang="en-US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 기본키는 </a:t>
            </a:r>
            <a:r>
              <a:rPr lang="en-US" altLang="ko-KR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NULL</a:t>
            </a:r>
            <a:r>
              <a:rPr lang="ko-KR" altLang="en-US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일 수 없다 </a:t>
            </a:r>
            <a:r>
              <a:rPr lang="en-US" altLang="ko-KR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(</a:t>
            </a:r>
            <a:r>
              <a:rPr lang="ko-KR" altLang="en-US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개체 무결성</a:t>
            </a:r>
            <a:r>
              <a:rPr lang="en-US" altLang="ko-KR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)</a:t>
            </a:r>
          </a:p>
          <a:p>
            <a:pPr marL="800100" lvl="1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주민등록번호가 없는 사람은 행정적으로는 없는 사람</a:t>
            </a:r>
            <a:endParaRPr lang="en-US" altLang="ko-KR" sz="2800" dirty="0"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불변성 </a:t>
            </a:r>
            <a:r>
              <a:rPr lang="en-US" altLang="ko-KR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: </a:t>
            </a:r>
            <a:r>
              <a:rPr lang="ko-KR" altLang="en-US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한번 값이 정해지면 </a:t>
            </a:r>
            <a:r>
              <a:rPr lang="en-US" altLang="ko-KR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(</a:t>
            </a:r>
            <a:r>
              <a:rPr lang="ko-KR" altLang="en-US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가급적</a:t>
            </a:r>
            <a:r>
              <a:rPr lang="en-US" altLang="ko-KR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) </a:t>
            </a:r>
            <a:r>
              <a:rPr lang="ko-KR" altLang="en-US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바뀌지 않을 것</a:t>
            </a:r>
            <a:endParaRPr lang="en-US" altLang="ko-KR" sz="2800" dirty="0"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800100" lvl="1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ko-KR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PK </a:t>
            </a:r>
            <a:r>
              <a:rPr lang="ko-KR" altLang="en-US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수정은 매우 값비싼 작업</a:t>
            </a:r>
            <a:endParaRPr lang="en-US" altLang="ko-KR" sz="2800" dirty="0"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</p:spTree>
    <p:extLst>
      <p:ext uri="{BB962C8B-B14F-4D97-AF65-F5344CB8AC3E}">
        <p14:creationId xmlns:p14="http://schemas.microsoft.com/office/powerpoint/2010/main" val="9731947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5D9B5-9DD5-C29B-E717-FF69EA1E3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B5BAA5D-18CD-E8B4-FD0B-B99A233D8304}"/>
              </a:ext>
            </a:extLst>
          </p:cNvPr>
          <p:cNvSpPr/>
          <p:nvPr/>
        </p:nvSpPr>
        <p:spPr>
          <a:xfrm>
            <a:off x="507222" y="9779778"/>
            <a:ext cx="17273556" cy="0"/>
          </a:xfrm>
          <a:prstGeom prst="line">
            <a:avLst/>
          </a:prstGeom>
          <a:ln w="9525" cap="flat">
            <a:solidFill>
              <a:srgbClr val="AFAFA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44497B82-713A-A145-DDBB-2C0BD9308F25}"/>
              </a:ext>
            </a:extLst>
          </p:cNvPr>
          <p:cNvSpPr txBox="1"/>
          <p:nvPr/>
        </p:nvSpPr>
        <p:spPr>
          <a:xfrm>
            <a:off x="654050" y="1084026"/>
            <a:ext cx="3314700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ko-KR" altLang="en-US" sz="4500" b="1" dirty="0" err="1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기본키</a:t>
            </a:r>
            <a:r>
              <a:rPr lang="en-US" altLang="ko-KR" sz="4500" b="1" dirty="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(PK)</a:t>
            </a:r>
            <a:endParaRPr lang="en-US" sz="4500" b="1" dirty="0">
              <a:solidFill>
                <a:srgbClr val="EB1D26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0F0672C-2404-2BF3-7E9F-4DC159F8785F}"/>
              </a:ext>
            </a:extLst>
          </p:cNvPr>
          <p:cNvSpPr txBox="1"/>
          <p:nvPr/>
        </p:nvSpPr>
        <p:spPr>
          <a:xfrm>
            <a:off x="687867" y="606425"/>
            <a:ext cx="1885504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ko-KR" altLang="en-US" sz="2499" b="1" dirty="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데이터베이스</a:t>
            </a:r>
            <a:endParaRPr lang="en-US" sz="2499" b="1" dirty="0">
              <a:solidFill>
                <a:srgbClr val="EB1D26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3" name="TextBox 17">
            <a:extLst>
              <a:ext uri="{FF2B5EF4-FFF2-40B4-BE49-F238E27FC236}">
                <a16:creationId xmlns:a16="http://schemas.microsoft.com/office/drawing/2014/main" id="{A7B6F288-2EFC-A2C3-DE62-AC691EAC9422}"/>
              </a:ext>
            </a:extLst>
          </p:cNvPr>
          <p:cNvSpPr txBox="1"/>
          <p:nvPr/>
        </p:nvSpPr>
        <p:spPr>
          <a:xfrm>
            <a:off x="1100682" y="5384613"/>
            <a:ext cx="11929517" cy="1224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 err="1">
                <a:latin typeface="Source Han Sans KR"/>
                <a:ea typeface="Source Han Sans KR"/>
                <a:cs typeface="Source Han Sans KR"/>
                <a:sym typeface="Source Han Sans KR"/>
              </a:rPr>
              <a:t>슈퍼키</a:t>
            </a:r>
            <a:r>
              <a:rPr lang="ko-KR" altLang="en-US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r>
              <a:rPr lang="en-US" altLang="ko-KR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: </a:t>
            </a:r>
            <a:r>
              <a:rPr lang="ko-KR" altLang="en-US" sz="2800" b="1" dirty="0"/>
              <a:t>행을 유일하게 식별할 수 있는 속성 집합</a:t>
            </a:r>
            <a:endParaRPr lang="ko-KR" altLang="en-US" sz="2800" dirty="0"/>
          </a:p>
          <a:p>
            <a:pPr marL="800100" lvl="1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endParaRPr lang="en-US" altLang="ko-KR" sz="2800" dirty="0"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7182A8B-E16B-1326-5C73-FC49E3753E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3941205"/>
              </p:ext>
            </p:extLst>
          </p:nvPr>
        </p:nvGraphicFramePr>
        <p:xfrm>
          <a:off x="1135851" y="2281287"/>
          <a:ext cx="8229600" cy="2286000"/>
        </p:xfrm>
        <a:graphic>
          <a:graphicData uri="http://schemas.openxmlformats.org/drawingml/2006/table">
            <a:tbl>
              <a:tblPr firstRow="1">
                <a:tableStyleId>{912C8C85-51F0-491E-9774-3900AFEF0FD7}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359449466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1007542548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126436387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1458336956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19793475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student_id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ssn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email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major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33864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1001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990101-1234567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hlinkClick r:id="rId2"/>
                        </a:rPr>
                        <a:t>kim@uni.ac.kr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김민수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컴퓨터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9226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1002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000305-2345678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hlinkClick r:id="rId3"/>
                        </a:rPr>
                        <a:t>lee@uni.ac.kr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이지은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경영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16886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1003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010712-3456789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hlinkClick r:id="rId4"/>
                        </a:rPr>
                        <a:t>park@uni.ac.kr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박준호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수학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577666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C97EAE4-1C8E-8ADA-1BC6-85C27B385F61}"/>
              </a:ext>
            </a:extLst>
          </p:cNvPr>
          <p:cNvSpPr txBox="1"/>
          <p:nvPr/>
        </p:nvSpPr>
        <p:spPr>
          <a:xfrm>
            <a:off x="1371600" y="6214712"/>
            <a:ext cx="9144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dirty="0" err="1"/>
              <a:t>student_id</a:t>
            </a:r>
            <a:endParaRPr lang="ko-KR" altLang="en-US" sz="3200" dirty="0"/>
          </a:p>
          <a:p>
            <a:r>
              <a:rPr lang="ko-KR" altLang="en-US" sz="3200" dirty="0" err="1"/>
              <a:t>ssn</a:t>
            </a:r>
            <a:endParaRPr lang="ko-KR" altLang="en-US" sz="3200" dirty="0"/>
          </a:p>
          <a:p>
            <a:r>
              <a:rPr lang="ko-KR" altLang="en-US" sz="3200" dirty="0" err="1"/>
              <a:t>email</a:t>
            </a:r>
            <a:endParaRPr lang="ko-KR" altLang="en-US" sz="3200" dirty="0"/>
          </a:p>
          <a:p>
            <a:r>
              <a:rPr lang="ko-KR" altLang="en-US" sz="3200" dirty="0"/>
              <a:t>(</a:t>
            </a:r>
            <a:r>
              <a:rPr lang="ko-KR" altLang="en-US" sz="3200" dirty="0" err="1"/>
              <a:t>student_id</a:t>
            </a:r>
            <a:r>
              <a:rPr lang="ko-KR" altLang="en-US" sz="3200" dirty="0"/>
              <a:t>, </a:t>
            </a:r>
            <a:r>
              <a:rPr lang="ko-KR" altLang="en-US" sz="3200" dirty="0" err="1"/>
              <a:t>name</a:t>
            </a:r>
            <a:r>
              <a:rPr lang="ko-KR" altLang="en-US" sz="3200" dirty="0"/>
              <a:t>) </a:t>
            </a:r>
            <a:r>
              <a:rPr lang="en-US" altLang="ko-KR" sz="3200" dirty="0"/>
              <a:t>-&gt; </a:t>
            </a:r>
            <a:r>
              <a:rPr lang="ko-KR" altLang="en-US" sz="3200" dirty="0"/>
              <a:t>조합 키</a:t>
            </a:r>
          </a:p>
          <a:p>
            <a:r>
              <a:rPr lang="ko-KR" altLang="en-US" sz="3200" dirty="0"/>
              <a:t>(</a:t>
            </a:r>
            <a:r>
              <a:rPr lang="ko-KR" altLang="en-US" sz="3200" dirty="0" err="1"/>
              <a:t>ssn</a:t>
            </a:r>
            <a:r>
              <a:rPr lang="ko-KR" altLang="en-US" sz="3200" dirty="0"/>
              <a:t>, </a:t>
            </a:r>
            <a:r>
              <a:rPr lang="ko-KR" altLang="en-US" sz="3200" dirty="0" err="1"/>
              <a:t>major</a:t>
            </a:r>
            <a:r>
              <a:rPr lang="ko-KR" altLang="en-US" sz="3200" dirty="0"/>
              <a:t>)</a:t>
            </a:r>
          </a:p>
          <a:p>
            <a:r>
              <a:rPr lang="ko-KR" altLang="en-US" sz="3200" dirty="0"/>
              <a:t>(</a:t>
            </a:r>
            <a:r>
              <a:rPr lang="ko-KR" altLang="en-US" sz="3200" dirty="0" err="1"/>
              <a:t>email</a:t>
            </a:r>
            <a:r>
              <a:rPr lang="ko-KR" altLang="en-US" sz="3200" dirty="0"/>
              <a:t>, </a:t>
            </a:r>
            <a:r>
              <a:rPr lang="ko-KR" altLang="en-US" sz="3200" dirty="0" err="1"/>
              <a:t>name</a:t>
            </a:r>
            <a:r>
              <a:rPr lang="ko-KR" altLang="en-US" sz="3200" dirty="0"/>
              <a:t>, </a:t>
            </a:r>
            <a:r>
              <a:rPr lang="ko-KR" altLang="en-US" sz="3200" dirty="0" err="1"/>
              <a:t>major</a:t>
            </a:r>
            <a:r>
              <a:rPr lang="ko-KR" altLang="en-US" sz="3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377125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00135-315A-DB47-1319-F8B2E49E3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B3C48023-D918-B1FA-EC10-CD865182B524}"/>
              </a:ext>
            </a:extLst>
          </p:cNvPr>
          <p:cNvSpPr/>
          <p:nvPr/>
        </p:nvSpPr>
        <p:spPr>
          <a:xfrm>
            <a:off x="507222" y="9779778"/>
            <a:ext cx="17273556" cy="0"/>
          </a:xfrm>
          <a:prstGeom prst="line">
            <a:avLst/>
          </a:prstGeom>
          <a:ln w="9525" cap="flat">
            <a:solidFill>
              <a:srgbClr val="AFAFA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C2EDF9AD-BF94-9D76-0045-0FFAA8027D53}"/>
              </a:ext>
            </a:extLst>
          </p:cNvPr>
          <p:cNvSpPr txBox="1"/>
          <p:nvPr/>
        </p:nvSpPr>
        <p:spPr>
          <a:xfrm>
            <a:off x="654050" y="1084026"/>
            <a:ext cx="3314700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ko-KR" altLang="en-US" sz="4500" b="1" dirty="0" err="1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기본키</a:t>
            </a:r>
            <a:r>
              <a:rPr lang="en-US" altLang="ko-KR" sz="4500" b="1" dirty="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(PK)</a:t>
            </a:r>
            <a:endParaRPr lang="en-US" sz="4500" b="1" dirty="0">
              <a:solidFill>
                <a:srgbClr val="EB1D26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E09CD653-6231-96C2-9B5F-D5EF257A3A54}"/>
              </a:ext>
            </a:extLst>
          </p:cNvPr>
          <p:cNvSpPr txBox="1"/>
          <p:nvPr/>
        </p:nvSpPr>
        <p:spPr>
          <a:xfrm>
            <a:off x="687867" y="606425"/>
            <a:ext cx="1885504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ko-KR" altLang="en-US" sz="2499" b="1" dirty="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데이터베이스</a:t>
            </a:r>
            <a:endParaRPr lang="en-US" sz="2499" b="1" dirty="0">
              <a:solidFill>
                <a:srgbClr val="EB1D26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3" name="TextBox 17">
            <a:extLst>
              <a:ext uri="{FF2B5EF4-FFF2-40B4-BE49-F238E27FC236}">
                <a16:creationId xmlns:a16="http://schemas.microsoft.com/office/drawing/2014/main" id="{4C9D73FB-2E25-13E7-9CA9-6778B8F745B6}"/>
              </a:ext>
            </a:extLst>
          </p:cNvPr>
          <p:cNvSpPr txBox="1"/>
          <p:nvPr/>
        </p:nvSpPr>
        <p:spPr>
          <a:xfrm>
            <a:off x="1100682" y="5384613"/>
            <a:ext cx="11929517" cy="18705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 err="1">
                <a:latin typeface="Source Han Sans KR"/>
                <a:ea typeface="Source Han Sans KR"/>
                <a:cs typeface="Source Han Sans KR"/>
                <a:sym typeface="Source Han Sans KR"/>
              </a:rPr>
              <a:t>후보키</a:t>
            </a:r>
            <a:r>
              <a:rPr lang="ko-KR" altLang="en-US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r>
              <a:rPr lang="en-US" altLang="ko-KR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: </a:t>
            </a:r>
            <a:r>
              <a:rPr lang="ko-KR" altLang="en-US" sz="2800" b="1" dirty="0">
                <a:solidFill>
                  <a:schemeClr val="accent2"/>
                </a:solidFill>
              </a:rPr>
              <a:t>최소한</a:t>
            </a:r>
            <a:r>
              <a:rPr lang="ko-KR" altLang="en-US" sz="2800" b="1" dirty="0"/>
              <a:t>의 속성으로 행을 유일하게 식별하는 키</a:t>
            </a:r>
            <a:endParaRPr lang="ko-KR" altLang="en-US" sz="2800" dirty="0"/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endParaRPr lang="ko-KR" altLang="en-US" sz="2800" dirty="0"/>
          </a:p>
          <a:p>
            <a:pPr marL="800100" lvl="1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endParaRPr lang="en-US" altLang="ko-KR" sz="2800" dirty="0"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71401A8-364F-38ED-77A0-CEA2B53161A7}"/>
              </a:ext>
            </a:extLst>
          </p:cNvPr>
          <p:cNvGraphicFramePr>
            <a:graphicFrameLocks noGrp="1"/>
          </p:cNvGraphicFramePr>
          <p:nvPr/>
        </p:nvGraphicFramePr>
        <p:xfrm>
          <a:off x="1135851" y="2281287"/>
          <a:ext cx="8229600" cy="2286000"/>
        </p:xfrm>
        <a:graphic>
          <a:graphicData uri="http://schemas.openxmlformats.org/drawingml/2006/table">
            <a:tbl>
              <a:tblPr firstRow="1">
                <a:tableStyleId>{912C8C85-51F0-491E-9774-3900AFEF0FD7}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359449466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1007542548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126436387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1458336956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19793475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student_id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ssn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email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major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33864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1001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990101-1234567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hlinkClick r:id="rId2"/>
                        </a:rPr>
                        <a:t>kim@uni.ac.kr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김민수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컴퓨터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9226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1002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000305-2345678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hlinkClick r:id="rId3"/>
                        </a:rPr>
                        <a:t>lee@uni.ac.kr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이지은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경영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16886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1003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010712-3456789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hlinkClick r:id="rId4"/>
                        </a:rPr>
                        <a:t>park@uni.ac.kr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박준호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수학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577666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BA55EDC-9C73-C12C-3BE7-D1770AF6272A}"/>
              </a:ext>
            </a:extLst>
          </p:cNvPr>
          <p:cNvSpPr txBox="1"/>
          <p:nvPr/>
        </p:nvSpPr>
        <p:spPr>
          <a:xfrm>
            <a:off x="1371600" y="6214712"/>
            <a:ext cx="9144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200" dirty="0" err="1"/>
              <a:t>student_id</a:t>
            </a:r>
            <a:endParaRPr lang="en-US" altLang="ko-KR" sz="3200" dirty="0"/>
          </a:p>
          <a:p>
            <a:r>
              <a:rPr lang="en-US" altLang="ko-KR" sz="3200" dirty="0" err="1"/>
              <a:t>ssn</a:t>
            </a:r>
            <a:endParaRPr lang="en-US" altLang="ko-KR" sz="3200" dirty="0"/>
          </a:p>
          <a:p>
            <a:r>
              <a:rPr lang="en-US" altLang="ko-KR" sz="3200" dirty="0"/>
              <a:t>email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0408850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07848-92D9-CEDF-885B-F8BDDF2CE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D41BD186-DEF2-5F8E-29B2-325319DB75D8}"/>
              </a:ext>
            </a:extLst>
          </p:cNvPr>
          <p:cNvSpPr/>
          <p:nvPr/>
        </p:nvSpPr>
        <p:spPr>
          <a:xfrm>
            <a:off x="507222" y="9779778"/>
            <a:ext cx="17273556" cy="0"/>
          </a:xfrm>
          <a:prstGeom prst="line">
            <a:avLst/>
          </a:prstGeom>
          <a:ln w="9525" cap="flat">
            <a:solidFill>
              <a:srgbClr val="AFAFA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80656620-3305-F020-818D-B933EA23A703}"/>
              </a:ext>
            </a:extLst>
          </p:cNvPr>
          <p:cNvSpPr txBox="1"/>
          <p:nvPr/>
        </p:nvSpPr>
        <p:spPr>
          <a:xfrm>
            <a:off x="654050" y="1084026"/>
            <a:ext cx="3314700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ko-KR" altLang="en-US" sz="4500" b="1" dirty="0" err="1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기본키</a:t>
            </a:r>
            <a:r>
              <a:rPr lang="en-US" altLang="ko-KR" sz="4500" b="1" dirty="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(PK)</a:t>
            </a:r>
            <a:endParaRPr lang="en-US" sz="4500" b="1" dirty="0">
              <a:solidFill>
                <a:srgbClr val="EB1D26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8ABD56FC-8C47-1B82-897B-2F333EB8E287}"/>
              </a:ext>
            </a:extLst>
          </p:cNvPr>
          <p:cNvSpPr txBox="1"/>
          <p:nvPr/>
        </p:nvSpPr>
        <p:spPr>
          <a:xfrm>
            <a:off x="687867" y="606425"/>
            <a:ext cx="1885504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ko-KR" altLang="en-US" sz="2499" b="1" dirty="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데이터베이스</a:t>
            </a:r>
            <a:endParaRPr lang="en-US" sz="2499" b="1" dirty="0">
              <a:solidFill>
                <a:srgbClr val="EB1D26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3" name="TextBox 17">
            <a:extLst>
              <a:ext uri="{FF2B5EF4-FFF2-40B4-BE49-F238E27FC236}">
                <a16:creationId xmlns:a16="http://schemas.microsoft.com/office/drawing/2014/main" id="{8BC5AF54-F167-D6C1-756F-0954C757DD4B}"/>
              </a:ext>
            </a:extLst>
          </p:cNvPr>
          <p:cNvSpPr txBox="1"/>
          <p:nvPr/>
        </p:nvSpPr>
        <p:spPr>
          <a:xfrm>
            <a:off x="1100682" y="5384613"/>
            <a:ext cx="11929517" cy="1224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 err="1">
                <a:latin typeface="Source Han Sans KR"/>
                <a:ea typeface="Source Han Sans KR"/>
                <a:cs typeface="Source Han Sans KR"/>
                <a:sym typeface="Source Han Sans KR"/>
              </a:rPr>
              <a:t>자연키</a:t>
            </a:r>
            <a:r>
              <a:rPr lang="ko-KR" altLang="en-US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r>
              <a:rPr lang="en-US" altLang="ko-KR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: </a:t>
            </a:r>
            <a:r>
              <a:rPr lang="ko-KR" altLang="en-US" sz="2800" dirty="0"/>
              <a:t>데이터 자체의 의미에서 나온 키</a:t>
            </a:r>
          </a:p>
          <a:p>
            <a:pPr marL="800100" lvl="1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endParaRPr lang="en-US" altLang="ko-KR" sz="2800" dirty="0"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D4AD9FA-7046-0965-C827-F1AEF8F46659}"/>
              </a:ext>
            </a:extLst>
          </p:cNvPr>
          <p:cNvGraphicFramePr>
            <a:graphicFrameLocks noGrp="1"/>
          </p:cNvGraphicFramePr>
          <p:nvPr/>
        </p:nvGraphicFramePr>
        <p:xfrm>
          <a:off x="1135851" y="2281287"/>
          <a:ext cx="8229600" cy="2286000"/>
        </p:xfrm>
        <a:graphic>
          <a:graphicData uri="http://schemas.openxmlformats.org/drawingml/2006/table">
            <a:tbl>
              <a:tblPr firstRow="1">
                <a:tableStyleId>{912C8C85-51F0-491E-9774-3900AFEF0FD7}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359449466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1007542548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126436387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1458336956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19793475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student_id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ssn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email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major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33864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1001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990101-1234567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hlinkClick r:id="rId2"/>
                        </a:rPr>
                        <a:t>kim@uni.ac.kr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김민수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컴퓨터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9226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1002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000305-2345678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hlinkClick r:id="rId3"/>
                        </a:rPr>
                        <a:t>lee@uni.ac.kr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이지은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경영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16886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1003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010712-3456789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hlinkClick r:id="rId4"/>
                        </a:rPr>
                        <a:t>park@uni.ac.kr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박준호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수학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577666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E775A93-A9F9-5B5B-420E-BA6D20EB707E}"/>
              </a:ext>
            </a:extLst>
          </p:cNvPr>
          <p:cNvSpPr txBox="1"/>
          <p:nvPr/>
        </p:nvSpPr>
        <p:spPr>
          <a:xfrm>
            <a:off x="1371600" y="6214712"/>
            <a:ext cx="9144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200" dirty="0" err="1"/>
              <a:t>ssn</a:t>
            </a:r>
            <a:endParaRPr lang="en-US" altLang="ko-KR" sz="3200" dirty="0"/>
          </a:p>
          <a:p>
            <a:r>
              <a:rPr lang="en-US" altLang="ko-KR" sz="3200" dirty="0"/>
              <a:t>email</a:t>
            </a:r>
          </a:p>
        </p:txBody>
      </p:sp>
      <p:sp>
        <p:nvSpPr>
          <p:cNvPr id="5" name="TextBox 17">
            <a:extLst>
              <a:ext uri="{FF2B5EF4-FFF2-40B4-BE49-F238E27FC236}">
                <a16:creationId xmlns:a16="http://schemas.microsoft.com/office/drawing/2014/main" id="{C296E0C7-43A3-AD9E-E7C5-181FE1C8FFE1}"/>
              </a:ext>
            </a:extLst>
          </p:cNvPr>
          <p:cNvSpPr txBox="1"/>
          <p:nvPr/>
        </p:nvSpPr>
        <p:spPr>
          <a:xfrm>
            <a:off x="1100682" y="7393590"/>
            <a:ext cx="11929517" cy="5779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 err="1">
                <a:latin typeface="Source Han Sans KR"/>
                <a:ea typeface="Source Han Sans KR"/>
                <a:cs typeface="Source Han Sans KR"/>
                <a:sym typeface="Source Han Sans KR"/>
              </a:rPr>
              <a:t>인조키</a:t>
            </a:r>
            <a:r>
              <a:rPr lang="ko-KR" altLang="en-US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r>
              <a:rPr lang="en-US" altLang="ko-KR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: </a:t>
            </a:r>
            <a:r>
              <a:rPr lang="ko-KR" altLang="en-US" sz="2800" dirty="0"/>
              <a:t>시스템이 만든 인위적 키</a:t>
            </a:r>
            <a:endParaRPr lang="en-US" altLang="ko-KR" sz="2800" dirty="0"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01418A-212E-F3C6-4CA3-DE0F0014923E}"/>
              </a:ext>
            </a:extLst>
          </p:cNvPr>
          <p:cNvSpPr txBox="1"/>
          <p:nvPr/>
        </p:nvSpPr>
        <p:spPr>
          <a:xfrm>
            <a:off x="1371600" y="8223689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200" dirty="0" err="1"/>
              <a:t>student_id</a:t>
            </a:r>
            <a:endParaRPr lang="en-US" altLang="ko-KR" sz="3200" dirty="0"/>
          </a:p>
        </p:txBody>
      </p:sp>
    </p:spTree>
    <p:extLst>
      <p:ext uri="{BB962C8B-B14F-4D97-AF65-F5344CB8AC3E}">
        <p14:creationId xmlns:p14="http://schemas.microsoft.com/office/powerpoint/2010/main" val="21080028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03706-8280-02E7-F587-D788908F6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D5FCD9DA-8DD7-95F5-FF9D-C35261B819BD}"/>
              </a:ext>
            </a:extLst>
          </p:cNvPr>
          <p:cNvSpPr/>
          <p:nvPr/>
        </p:nvSpPr>
        <p:spPr>
          <a:xfrm>
            <a:off x="507222" y="9779778"/>
            <a:ext cx="17273556" cy="0"/>
          </a:xfrm>
          <a:prstGeom prst="line">
            <a:avLst/>
          </a:prstGeom>
          <a:ln w="9525" cap="flat">
            <a:solidFill>
              <a:srgbClr val="AFAFA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1E25519E-2470-64D6-874D-71A6E302D896}"/>
              </a:ext>
            </a:extLst>
          </p:cNvPr>
          <p:cNvSpPr txBox="1"/>
          <p:nvPr/>
        </p:nvSpPr>
        <p:spPr>
          <a:xfrm>
            <a:off x="654050" y="1084026"/>
            <a:ext cx="3314700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ko-KR" altLang="en-US" sz="4500" b="1" dirty="0" err="1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외래키</a:t>
            </a:r>
            <a:r>
              <a:rPr lang="en-US" altLang="ko-KR" sz="4500" b="1" dirty="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(FK)</a:t>
            </a:r>
            <a:endParaRPr lang="en-US" sz="4500" b="1" dirty="0">
              <a:solidFill>
                <a:srgbClr val="EB1D26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C6771BDA-DB01-F99B-F54B-39B1F4CADED4}"/>
              </a:ext>
            </a:extLst>
          </p:cNvPr>
          <p:cNvSpPr txBox="1"/>
          <p:nvPr/>
        </p:nvSpPr>
        <p:spPr>
          <a:xfrm>
            <a:off x="687867" y="606425"/>
            <a:ext cx="1885504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ko-KR" altLang="en-US" sz="2499" b="1" dirty="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데이터베이스</a:t>
            </a:r>
            <a:endParaRPr lang="en-US" sz="2499" b="1" dirty="0">
              <a:solidFill>
                <a:srgbClr val="EB1D26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3" name="TextBox 17">
            <a:extLst>
              <a:ext uri="{FF2B5EF4-FFF2-40B4-BE49-F238E27FC236}">
                <a16:creationId xmlns:a16="http://schemas.microsoft.com/office/drawing/2014/main" id="{8A641CCE-3969-8F1E-611D-06250BC05699}"/>
              </a:ext>
            </a:extLst>
          </p:cNvPr>
          <p:cNvSpPr txBox="1"/>
          <p:nvPr/>
        </p:nvSpPr>
        <p:spPr>
          <a:xfrm>
            <a:off x="1100682" y="5384613"/>
            <a:ext cx="11929517" cy="1224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반드시 다른 테이블의 </a:t>
            </a:r>
            <a:r>
              <a:rPr lang="en-US" altLang="ko-KR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PK</a:t>
            </a:r>
            <a:r>
              <a:rPr lang="ko-KR" altLang="en-US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에 실제로 존재한 값 중 </a:t>
            </a:r>
            <a:r>
              <a:rPr lang="ko-KR" altLang="en-US" sz="2800" dirty="0" err="1">
                <a:latin typeface="Source Han Sans KR"/>
                <a:ea typeface="Source Han Sans KR"/>
                <a:cs typeface="Source Han Sans KR"/>
                <a:sym typeface="Source Han Sans KR"/>
              </a:rPr>
              <a:t>하나거나</a:t>
            </a:r>
            <a:r>
              <a:rPr lang="ko-KR" altLang="en-US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r>
              <a:rPr lang="en-US" altLang="ko-KR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NULL</a:t>
            </a:r>
            <a:r>
              <a:rPr lang="ko-KR" altLang="en-US" sz="2800" dirty="0" err="1">
                <a:latin typeface="Source Han Sans KR"/>
                <a:ea typeface="Source Han Sans KR"/>
                <a:cs typeface="Source Han Sans KR"/>
                <a:sym typeface="Source Han Sans KR"/>
              </a:rPr>
              <a:t>이여야만</a:t>
            </a:r>
            <a:r>
              <a:rPr lang="ko-KR" altLang="en-US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 한다</a:t>
            </a:r>
            <a:r>
              <a:rPr lang="en-US" altLang="ko-KR" sz="2800" dirty="0">
                <a:solidFill>
                  <a:srgbClr val="EE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(</a:t>
            </a:r>
            <a:r>
              <a:rPr lang="ko-KR" altLang="en-US" sz="2800" dirty="0">
                <a:solidFill>
                  <a:srgbClr val="EE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참조 무결성</a:t>
            </a:r>
            <a:r>
              <a:rPr lang="en-US" altLang="ko-KR" sz="2800" dirty="0">
                <a:solidFill>
                  <a:srgbClr val="EE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)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7486114-077B-C612-CEF5-C82B7623D5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544" y="2630757"/>
            <a:ext cx="8217421" cy="196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9075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66A0D-E986-D1C3-9DDB-CDA81646E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07A942DC-4C53-7F0E-1DC8-B89485EABCDD}"/>
              </a:ext>
            </a:extLst>
          </p:cNvPr>
          <p:cNvSpPr/>
          <p:nvPr/>
        </p:nvSpPr>
        <p:spPr>
          <a:xfrm>
            <a:off x="507222" y="9779778"/>
            <a:ext cx="17273556" cy="0"/>
          </a:xfrm>
          <a:prstGeom prst="line">
            <a:avLst/>
          </a:prstGeom>
          <a:ln w="9525" cap="flat">
            <a:solidFill>
              <a:srgbClr val="AFAFA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CEDAD7F-BF5D-3AC5-D2D6-68F193DD3433}"/>
              </a:ext>
            </a:extLst>
          </p:cNvPr>
          <p:cNvSpPr txBox="1"/>
          <p:nvPr/>
        </p:nvSpPr>
        <p:spPr>
          <a:xfrm>
            <a:off x="654050" y="1084026"/>
            <a:ext cx="7118350" cy="755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ko-KR" altLang="en-US" sz="4500" b="1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테이블 사이의 관계</a:t>
            </a:r>
            <a:endParaRPr lang="en-US" sz="4500" b="1" dirty="0">
              <a:solidFill>
                <a:srgbClr val="EB1D26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8FB61F88-7066-DE0C-9408-8C0C76128EE3}"/>
              </a:ext>
            </a:extLst>
          </p:cNvPr>
          <p:cNvSpPr txBox="1"/>
          <p:nvPr/>
        </p:nvSpPr>
        <p:spPr>
          <a:xfrm>
            <a:off x="687867" y="606425"/>
            <a:ext cx="1885504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ko-KR" altLang="en-US" sz="2499" b="1" dirty="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데이터베이스</a:t>
            </a:r>
            <a:endParaRPr lang="en-US" sz="2499" b="1" dirty="0">
              <a:solidFill>
                <a:srgbClr val="EB1D26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8FD447-D8E5-E1CD-E37C-372DE28820E2}"/>
              </a:ext>
            </a:extLst>
          </p:cNvPr>
          <p:cNvSpPr/>
          <p:nvPr/>
        </p:nvSpPr>
        <p:spPr>
          <a:xfrm>
            <a:off x="1055688" y="2247859"/>
            <a:ext cx="7698389" cy="122577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72000" tIns="108000" rtlCol="0" anchor="ctr">
            <a:noAutofit/>
          </a:bodyPr>
          <a:lstStyle/>
          <a:p>
            <a:pPr marL="265113" indent="-265113" latinLnBrk="0">
              <a:spcBef>
                <a:spcPts val="200"/>
              </a:spcBef>
              <a:spcAft>
                <a:spcPts val="300"/>
              </a:spcAft>
              <a:buClr>
                <a:srgbClr val="6EA696"/>
              </a:buClr>
              <a:buSzPct val="70000"/>
              <a:buFont typeface="Wingdings" panose="05000000000000000000" pitchFamily="2" charset="2"/>
              <a:buChar char="l"/>
            </a:pPr>
            <a:r>
              <a:rPr lang="ko-KR" altLang="en-US" sz="2000" spc="-150" dirty="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rPr>
              <a:t>한 테이블의 </a:t>
            </a:r>
            <a:r>
              <a:rPr lang="ko-KR" altLang="en-US" sz="2000" spc="-150" dirty="0" err="1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rPr>
              <a:t>튜플이</a:t>
            </a:r>
            <a:r>
              <a:rPr lang="ko-KR" altLang="en-US" sz="2000" spc="-150" dirty="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rPr>
              <a:t> 다른 테이블의 오직 한 </a:t>
            </a:r>
            <a:r>
              <a:rPr lang="ko-KR" altLang="en-US" sz="2000" spc="-150" dirty="0" err="1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rPr>
              <a:t>튜플과</a:t>
            </a:r>
            <a:r>
              <a:rPr lang="ko-KR" altLang="en-US" sz="2000" spc="-150" dirty="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rPr>
              <a:t> 대응</a:t>
            </a:r>
            <a:endParaRPr lang="en-US" altLang="ko-KR" sz="2000" spc="-150" dirty="0">
              <a:solidFill>
                <a:schemeClr val="tx1"/>
              </a:solidFill>
              <a:latin typeface="페이퍼로지 6 SemiBold" pitchFamily="2" charset="-127"/>
              <a:ea typeface="페이퍼로지 6 SemiBold" pitchFamily="2" charset="-127"/>
            </a:endParaRPr>
          </a:p>
          <a:p>
            <a:pPr marL="265113" indent="-265113" latinLnBrk="0">
              <a:spcBef>
                <a:spcPts val="200"/>
              </a:spcBef>
              <a:spcAft>
                <a:spcPts val="300"/>
              </a:spcAft>
              <a:buClr>
                <a:srgbClr val="6EA696"/>
              </a:buClr>
              <a:buSzPct val="70000"/>
              <a:buFont typeface="Wingdings" panose="05000000000000000000" pitchFamily="2" charset="2"/>
              <a:buChar char="l"/>
            </a:pPr>
            <a:r>
              <a:rPr lang="ko-KR" altLang="en-US" sz="2000" spc="-150" dirty="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rPr>
              <a:t>국민 </a:t>
            </a:r>
            <a:r>
              <a:rPr lang="en-US" altLang="ko-KR" sz="2000" spc="-150" dirty="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rPr>
              <a:t>– </a:t>
            </a:r>
            <a:r>
              <a:rPr lang="ko-KR" altLang="en-US" sz="2000" spc="-150" dirty="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rPr>
              <a:t>주민등록번호</a:t>
            </a:r>
            <a:endParaRPr lang="en-US" altLang="ko-KR" sz="2000" spc="-150" dirty="0">
              <a:solidFill>
                <a:schemeClr val="tx1"/>
              </a:solidFill>
              <a:latin typeface="페이퍼로지 6 SemiBold" pitchFamily="2" charset="-127"/>
              <a:ea typeface="페이퍼로지 6 SemiBold" pitchFamily="2" charset="-127"/>
            </a:endParaRPr>
          </a:p>
          <a:p>
            <a:pPr marL="265113" indent="-265113" latinLnBrk="0">
              <a:spcBef>
                <a:spcPts val="200"/>
              </a:spcBef>
              <a:spcAft>
                <a:spcPts val="300"/>
              </a:spcAft>
              <a:buClr>
                <a:srgbClr val="6EA696"/>
              </a:buClr>
              <a:buSzPct val="70000"/>
              <a:buFont typeface="Wingdings" panose="05000000000000000000" pitchFamily="2" charset="2"/>
              <a:buChar char="l"/>
            </a:pPr>
            <a:r>
              <a:rPr lang="ko-KR" altLang="en-US" sz="2000" spc="-150" dirty="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rPr>
              <a:t>일반적으로 굳이 분리하지 않음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9ECA676-B602-1694-3E6A-E83186ADFFC2}"/>
              </a:ext>
            </a:extLst>
          </p:cNvPr>
          <p:cNvSpPr/>
          <p:nvPr/>
        </p:nvSpPr>
        <p:spPr>
          <a:xfrm>
            <a:off x="1055689" y="3609016"/>
            <a:ext cx="7713408" cy="128065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72000" tIns="108000" rtlCol="0" anchor="ctr">
            <a:noAutofit/>
          </a:bodyPr>
          <a:lstStyle/>
          <a:p>
            <a:pPr marL="265113" indent="-265113" latinLnBrk="0">
              <a:spcBef>
                <a:spcPts val="200"/>
              </a:spcBef>
              <a:spcAft>
                <a:spcPts val="300"/>
              </a:spcAft>
              <a:buClr>
                <a:srgbClr val="6EA696"/>
              </a:buClr>
              <a:buSzPct val="70000"/>
              <a:buFont typeface="Wingdings" panose="05000000000000000000" pitchFamily="2" charset="2"/>
              <a:buChar char="l"/>
            </a:pPr>
            <a:r>
              <a:rPr lang="ko-KR" altLang="en-US" sz="2400" spc="-150" dirty="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rPr>
              <a:t>가장 일반적인 관계</a:t>
            </a:r>
            <a:endParaRPr lang="en-US" altLang="ko-KR" sz="2400" spc="-150" dirty="0">
              <a:solidFill>
                <a:schemeClr val="tx1"/>
              </a:solidFill>
              <a:latin typeface="페이퍼로지 6 SemiBold" pitchFamily="2" charset="-127"/>
              <a:ea typeface="페이퍼로지 6 SemiBold" pitchFamily="2" charset="-127"/>
            </a:endParaRPr>
          </a:p>
          <a:p>
            <a:pPr marL="265113" indent="-265113" latinLnBrk="0">
              <a:spcBef>
                <a:spcPts val="200"/>
              </a:spcBef>
              <a:spcAft>
                <a:spcPts val="300"/>
              </a:spcAft>
              <a:buClr>
                <a:srgbClr val="6EA696"/>
              </a:buClr>
              <a:buSzPct val="70000"/>
              <a:buFont typeface="Wingdings" panose="05000000000000000000" pitchFamily="2" charset="2"/>
              <a:buChar char="l"/>
            </a:pPr>
            <a:r>
              <a:rPr lang="ko-KR" altLang="en-US" sz="2400" spc="-150" dirty="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rPr>
              <a:t>학과 </a:t>
            </a:r>
            <a:r>
              <a:rPr lang="en-US" altLang="ko-KR" sz="2400" spc="-150" dirty="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rPr>
              <a:t>– </a:t>
            </a:r>
            <a:r>
              <a:rPr lang="ko-KR" altLang="en-US" sz="2400" spc="-150" dirty="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rPr>
              <a:t>학생</a:t>
            </a:r>
            <a:endParaRPr lang="en-US" altLang="ko-KR" sz="2400" spc="-150" dirty="0">
              <a:solidFill>
                <a:schemeClr val="tx1"/>
              </a:solidFill>
              <a:latin typeface="페이퍼로지 6 SemiBold" pitchFamily="2" charset="-127"/>
              <a:ea typeface="페이퍼로지 6 SemiBold" pitchFamily="2" charset="-127"/>
            </a:endParaRPr>
          </a:p>
          <a:p>
            <a:pPr marL="265113" indent="-265113" latinLnBrk="0">
              <a:spcBef>
                <a:spcPts val="200"/>
              </a:spcBef>
              <a:spcAft>
                <a:spcPts val="300"/>
              </a:spcAft>
              <a:buClr>
                <a:srgbClr val="6EA696"/>
              </a:buClr>
              <a:buSzPct val="70000"/>
              <a:buFont typeface="Wingdings" panose="05000000000000000000" pitchFamily="2" charset="2"/>
              <a:buChar char="l"/>
            </a:pPr>
            <a:r>
              <a:rPr lang="en-US" altLang="ko-KR" sz="2400" spc="-150" dirty="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rPr>
              <a:t>FK</a:t>
            </a:r>
            <a:r>
              <a:rPr lang="ko-KR" altLang="en-US" sz="2400" spc="-150" dirty="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rPr>
              <a:t>를 이용한 관계 구성</a:t>
            </a:r>
            <a:endParaRPr lang="en-US" altLang="ko-KR" sz="2400" spc="-150" dirty="0">
              <a:solidFill>
                <a:schemeClr val="tx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68695A7-2733-2DA2-DDF0-B5284D9FBF1A}"/>
              </a:ext>
            </a:extLst>
          </p:cNvPr>
          <p:cNvSpPr/>
          <p:nvPr/>
        </p:nvSpPr>
        <p:spPr>
          <a:xfrm>
            <a:off x="1055689" y="5017871"/>
            <a:ext cx="7713408" cy="128065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72000" tIns="108000" rtlCol="0" anchor="ctr">
            <a:noAutofit/>
          </a:bodyPr>
          <a:lstStyle/>
          <a:p>
            <a:pPr marL="265113" indent="-265113" latinLnBrk="0">
              <a:spcBef>
                <a:spcPts val="200"/>
              </a:spcBef>
              <a:spcAft>
                <a:spcPts val="300"/>
              </a:spcAft>
              <a:buClr>
                <a:srgbClr val="6EA696"/>
              </a:buClr>
              <a:buSzPct val="70000"/>
              <a:buFont typeface="Wingdings" panose="05000000000000000000" pitchFamily="2" charset="2"/>
              <a:buChar char="l"/>
            </a:pPr>
            <a:r>
              <a:rPr lang="ko-KR" altLang="en-US" sz="2400" spc="-150" dirty="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rPr>
              <a:t>학생</a:t>
            </a:r>
            <a:r>
              <a:rPr lang="en-US" altLang="ko-KR" sz="2400" spc="-150" dirty="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rPr>
              <a:t>-</a:t>
            </a:r>
            <a:r>
              <a:rPr lang="ko-KR" altLang="en-US" sz="2400" spc="-150" dirty="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rPr>
              <a:t>교과목</a:t>
            </a:r>
            <a:endParaRPr lang="en-US" altLang="ko-KR" sz="2400" spc="-150" dirty="0">
              <a:solidFill>
                <a:schemeClr val="tx1"/>
              </a:solidFill>
              <a:latin typeface="페이퍼로지 6 SemiBold" pitchFamily="2" charset="-127"/>
              <a:ea typeface="페이퍼로지 6 SemiBold" pitchFamily="2" charset="-127"/>
            </a:endParaRPr>
          </a:p>
          <a:p>
            <a:pPr marL="265113" indent="-265113" latinLnBrk="0">
              <a:spcBef>
                <a:spcPts val="200"/>
              </a:spcBef>
              <a:spcAft>
                <a:spcPts val="300"/>
              </a:spcAft>
              <a:buClr>
                <a:srgbClr val="6EA696"/>
              </a:buClr>
              <a:buSzPct val="70000"/>
              <a:buFont typeface="Wingdings" panose="05000000000000000000" pitchFamily="2" charset="2"/>
              <a:buChar char="l"/>
            </a:pPr>
            <a:r>
              <a:rPr lang="ko-KR" altLang="en-US" sz="2400" spc="-150" dirty="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rPr>
              <a:t>연결 테이블을 사이에 넣어 구현</a:t>
            </a:r>
            <a:endParaRPr lang="en-US" altLang="ko-KR" sz="2400" spc="-150" dirty="0">
              <a:solidFill>
                <a:schemeClr val="tx1"/>
              </a:solidFill>
              <a:latin typeface="페이퍼로지 6 SemiBold" pitchFamily="2" charset="-127"/>
              <a:ea typeface="페이퍼로지 6 SemiBold" pitchFamily="2" charset="-127"/>
            </a:endParaRPr>
          </a:p>
          <a:p>
            <a:pPr marL="722313" lvl="1" indent="-265113" latinLnBrk="0">
              <a:spcBef>
                <a:spcPts val="200"/>
              </a:spcBef>
              <a:spcAft>
                <a:spcPts val="300"/>
              </a:spcAft>
              <a:buClr>
                <a:srgbClr val="6EA696"/>
              </a:buClr>
              <a:buSzPct val="70000"/>
              <a:buFont typeface="Wingdings" panose="05000000000000000000" pitchFamily="2" charset="2"/>
              <a:buChar char="l"/>
            </a:pPr>
            <a:r>
              <a:rPr lang="ko-KR" altLang="en-US" sz="2400" spc="-150" dirty="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rPr>
              <a:t>학생</a:t>
            </a:r>
            <a:r>
              <a:rPr lang="en-US" altLang="ko-KR" sz="2400" spc="-150" dirty="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rPr>
              <a:t>-</a:t>
            </a:r>
            <a:r>
              <a:rPr lang="ko-KR" altLang="en-US" sz="2400" spc="-150" dirty="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rPr>
              <a:t>수강신청</a:t>
            </a:r>
            <a:r>
              <a:rPr lang="en-US" altLang="ko-KR" sz="2400" spc="-150" dirty="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rPr>
              <a:t>-</a:t>
            </a:r>
            <a:r>
              <a:rPr lang="ko-KR" altLang="en-US" sz="2400" spc="-150" dirty="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rPr>
              <a:t>교과목  </a:t>
            </a:r>
            <a:endParaRPr lang="en-US" altLang="ko-KR" sz="2400" spc="-150" dirty="0">
              <a:solidFill>
                <a:schemeClr val="tx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B63BB59-AFCA-55AE-C489-4F1AEFB75A4E}"/>
              </a:ext>
            </a:extLst>
          </p:cNvPr>
          <p:cNvSpPr/>
          <p:nvPr/>
        </p:nvSpPr>
        <p:spPr>
          <a:xfrm>
            <a:off x="1055688" y="2241550"/>
            <a:ext cx="1699647" cy="1225771"/>
          </a:xfrm>
          <a:prstGeom prst="rect">
            <a:avLst/>
          </a:prstGeom>
          <a:solidFill>
            <a:srgbClr val="556885"/>
          </a:solidFill>
          <a:ln w="15875">
            <a:solidFill>
              <a:srgbClr val="43405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3600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2400" spc="-15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1:1</a:t>
            </a:r>
            <a:endParaRPr lang="ko-KR" altLang="en-US" sz="2400" spc="-150" dirty="0">
              <a:solidFill>
                <a:schemeClr val="bg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7C6C539-03D3-96AA-EB03-8A93840C7550}"/>
              </a:ext>
            </a:extLst>
          </p:cNvPr>
          <p:cNvSpPr/>
          <p:nvPr/>
        </p:nvSpPr>
        <p:spPr>
          <a:xfrm>
            <a:off x="1057437" y="3600169"/>
            <a:ext cx="1699647" cy="1289504"/>
          </a:xfrm>
          <a:prstGeom prst="rect">
            <a:avLst/>
          </a:prstGeom>
          <a:solidFill>
            <a:srgbClr val="AD7B99"/>
          </a:solidFill>
          <a:ln w="15875">
            <a:solidFill>
              <a:srgbClr val="43405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3600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2400" spc="-15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1:N</a:t>
            </a:r>
            <a:endParaRPr lang="ko-KR" altLang="en-US" sz="2400" spc="-150" dirty="0">
              <a:solidFill>
                <a:schemeClr val="bg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97D098F-2D65-F95B-F749-E93F61F7C505}"/>
              </a:ext>
            </a:extLst>
          </p:cNvPr>
          <p:cNvSpPr/>
          <p:nvPr/>
        </p:nvSpPr>
        <p:spPr>
          <a:xfrm>
            <a:off x="1057437" y="5017871"/>
            <a:ext cx="1699647" cy="1289504"/>
          </a:xfrm>
          <a:prstGeom prst="rect">
            <a:avLst/>
          </a:prstGeom>
          <a:solidFill>
            <a:srgbClr val="8486B2"/>
          </a:solidFill>
          <a:ln w="15875">
            <a:solidFill>
              <a:srgbClr val="00206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3600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2400" spc="-15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M:N</a:t>
            </a:r>
            <a:endParaRPr lang="ko-KR" altLang="en-US" sz="2400" spc="-150" dirty="0">
              <a:solidFill>
                <a:schemeClr val="bg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801473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8E201-D5AA-9000-FA9A-127845100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E55902AE-C925-3521-DDF5-85648394E2A6}"/>
              </a:ext>
            </a:extLst>
          </p:cNvPr>
          <p:cNvSpPr/>
          <p:nvPr/>
        </p:nvSpPr>
        <p:spPr>
          <a:xfrm>
            <a:off x="507222" y="9779778"/>
            <a:ext cx="17273556" cy="0"/>
          </a:xfrm>
          <a:prstGeom prst="line">
            <a:avLst/>
          </a:prstGeom>
          <a:ln w="9525" cap="flat">
            <a:solidFill>
              <a:srgbClr val="AFAFA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6286B276-CF33-591F-70E7-0EA47D3C97F7}"/>
              </a:ext>
            </a:extLst>
          </p:cNvPr>
          <p:cNvSpPr txBox="1"/>
          <p:nvPr/>
        </p:nvSpPr>
        <p:spPr>
          <a:xfrm>
            <a:off x="654050" y="1084026"/>
            <a:ext cx="7118350" cy="755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ko-KR" altLang="en-US" sz="4500" b="1" dirty="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참여도와 </a:t>
            </a:r>
            <a:r>
              <a:rPr lang="ko-KR" altLang="en-US" sz="4500" b="1" dirty="0" err="1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카디널리티</a:t>
            </a:r>
            <a:endParaRPr lang="en-US" sz="4500" b="1" dirty="0">
              <a:solidFill>
                <a:srgbClr val="EB1D26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EF7A7D21-C56A-17E7-903A-5A7A3173D4F5}"/>
              </a:ext>
            </a:extLst>
          </p:cNvPr>
          <p:cNvSpPr txBox="1"/>
          <p:nvPr/>
        </p:nvSpPr>
        <p:spPr>
          <a:xfrm>
            <a:off x="687867" y="606425"/>
            <a:ext cx="1885504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ko-KR" altLang="en-US" sz="2499" b="1" dirty="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데이터베이스</a:t>
            </a:r>
            <a:endParaRPr lang="en-US" sz="2499" b="1" dirty="0">
              <a:solidFill>
                <a:srgbClr val="EB1D26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3" name="TextBox 17">
            <a:extLst>
              <a:ext uri="{FF2B5EF4-FFF2-40B4-BE49-F238E27FC236}">
                <a16:creationId xmlns:a16="http://schemas.microsoft.com/office/drawing/2014/main" id="{99584C42-0250-2F64-14ED-D1A221454674}"/>
              </a:ext>
            </a:extLst>
          </p:cNvPr>
          <p:cNvSpPr txBox="1"/>
          <p:nvPr/>
        </p:nvSpPr>
        <p:spPr>
          <a:xfrm>
            <a:off x="1100682" y="2095500"/>
            <a:ext cx="11929517" cy="31632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참여도</a:t>
            </a:r>
            <a:r>
              <a:rPr lang="en-US" altLang="ko-KR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(</a:t>
            </a:r>
            <a:r>
              <a:rPr lang="ko-KR" altLang="en-US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최소값</a:t>
            </a:r>
            <a:r>
              <a:rPr lang="en-US" altLang="ko-KR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) – </a:t>
            </a:r>
            <a:r>
              <a:rPr lang="ko-KR" altLang="en-US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해당 레코드에 대응되는 다른 테이블의 레코드가 필수적인가</a:t>
            </a:r>
            <a:r>
              <a:rPr lang="en-US" altLang="ko-KR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?</a:t>
            </a:r>
          </a:p>
          <a:p>
            <a:pPr marL="800100" lvl="1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>
                <a:solidFill>
                  <a:srgbClr val="EE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필수적</a:t>
            </a:r>
            <a:r>
              <a:rPr lang="en-US" altLang="ko-KR" sz="2800" dirty="0">
                <a:solidFill>
                  <a:srgbClr val="EE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/</a:t>
            </a:r>
            <a:r>
              <a:rPr lang="ko-KR" altLang="en-US" sz="2800" dirty="0">
                <a:solidFill>
                  <a:srgbClr val="EE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선택적 참여 </a:t>
            </a:r>
            <a:r>
              <a:rPr lang="en-US" altLang="ko-KR" sz="2800" dirty="0">
                <a:solidFill>
                  <a:srgbClr val="EE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(</a:t>
            </a:r>
            <a:r>
              <a:rPr lang="ko-KR" altLang="en-US" sz="2800" dirty="0">
                <a:solidFill>
                  <a:srgbClr val="EE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최소값 </a:t>
            </a:r>
            <a:r>
              <a:rPr lang="en-US" altLang="ko-KR" sz="2800" dirty="0">
                <a:solidFill>
                  <a:srgbClr val="EE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1/0)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 err="1">
                <a:latin typeface="Source Han Sans KR"/>
                <a:ea typeface="Source Han Sans KR"/>
                <a:cs typeface="Source Han Sans KR"/>
                <a:sym typeface="Source Han Sans KR"/>
              </a:rPr>
              <a:t>카디널리티</a:t>
            </a:r>
            <a:r>
              <a:rPr lang="en-US" altLang="ko-KR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(</a:t>
            </a:r>
            <a:r>
              <a:rPr lang="ko-KR" altLang="en-US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최대값</a:t>
            </a:r>
            <a:r>
              <a:rPr lang="en-US" altLang="ko-KR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) – </a:t>
            </a:r>
            <a:r>
              <a:rPr lang="ko-KR" altLang="en-US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해당 레코드에 대응되는 다른 테이블의 레코드가 몇 개나 있을 수 있는가</a:t>
            </a:r>
            <a:r>
              <a:rPr lang="en-US" altLang="ko-KR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?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ko-KR" sz="2800" dirty="0">
                <a:solidFill>
                  <a:srgbClr val="EE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(</a:t>
            </a:r>
            <a:r>
              <a:rPr lang="ko-KR" altLang="en-US" sz="2800" dirty="0">
                <a:solidFill>
                  <a:srgbClr val="EE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최소</a:t>
            </a:r>
            <a:r>
              <a:rPr lang="en-US" altLang="ko-KR" sz="2800" dirty="0">
                <a:solidFill>
                  <a:srgbClr val="EE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, </a:t>
            </a:r>
            <a:r>
              <a:rPr lang="ko-KR" altLang="en-US" sz="2800" dirty="0">
                <a:solidFill>
                  <a:srgbClr val="EE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최대</a:t>
            </a:r>
            <a:r>
              <a:rPr lang="en-US" altLang="ko-KR" sz="2800" dirty="0">
                <a:solidFill>
                  <a:srgbClr val="EE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) </a:t>
            </a:r>
            <a:r>
              <a:rPr lang="ko-KR" altLang="en-US" sz="2800" dirty="0">
                <a:solidFill>
                  <a:srgbClr val="EE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형태로 표기</a:t>
            </a:r>
            <a:endParaRPr lang="en-US" altLang="ko-KR" sz="2800" dirty="0">
              <a:solidFill>
                <a:srgbClr val="EE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</p:spTree>
    <p:extLst>
      <p:ext uri="{BB962C8B-B14F-4D97-AF65-F5344CB8AC3E}">
        <p14:creationId xmlns:p14="http://schemas.microsoft.com/office/powerpoint/2010/main" val="23815871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02BE89-0CD7-8FC8-6DE2-B966C4BBAAD0}"/>
              </a:ext>
            </a:extLst>
          </p:cNvPr>
          <p:cNvSpPr txBox="1"/>
          <p:nvPr/>
        </p:nvSpPr>
        <p:spPr>
          <a:xfrm>
            <a:off x="6400800" y="1485900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dirty="0"/>
              <a:t>학생 </a:t>
            </a:r>
            <a:r>
              <a:rPr lang="en-US" altLang="ko-KR" sz="3200" dirty="0"/>
              <a:t>— </a:t>
            </a:r>
            <a:r>
              <a:rPr lang="ko-KR" altLang="en-US" sz="3200" dirty="0"/>
              <a:t>수강 </a:t>
            </a:r>
            <a:r>
              <a:rPr lang="en-US" altLang="ko-KR" sz="3200" dirty="0"/>
              <a:t>— </a:t>
            </a:r>
            <a:r>
              <a:rPr lang="ko-KR" altLang="en-US" sz="3200" dirty="0"/>
              <a:t>강좌</a:t>
            </a:r>
          </a:p>
        </p:txBody>
      </p:sp>
      <p:sp>
        <p:nvSpPr>
          <p:cNvPr id="4" name="TextBox 17">
            <a:extLst>
              <a:ext uri="{FF2B5EF4-FFF2-40B4-BE49-F238E27FC236}">
                <a16:creationId xmlns:a16="http://schemas.microsoft.com/office/drawing/2014/main" id="{39891A1B-82E3-3BA5-1481-3743995C3E37}"/>
              </a:ext>
            </a:extLst>
          </p:cNvPr>
          <p:cNvSpPr txBox="1"/>
          <p:nvPr/>
        </p:nvSpPr>
        <p:spPr>
          <a:xfrm>
            <a:off x="1100682" y="2705100"/>
            <a:ext cx="11929517" cy="38095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 err="1">
                <a:latin typeface="Source Han Sans KR"/>
                <a:ea typeface="Source Han Sans KR"/>
                <a:cs typeface="Source Han Sans KR"/>
                <a:sym typeface="Source Han Sans KR"/>
              </a:rPr>
              <a:t>카디널리티</a:t>
            </a:r>
            <a:endParaRPr lang="en-US" altLang="ko-KR" sz="2800" dirty="0"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800100" lvl="1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ko-KR" sz="2800" dirty="0">
                <a:solidFill>
                  <a:srgbClr val="EE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M:N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참여도</a:t>
            </a:r>
            <a:endParaRPr lang="en-US" altLang="ko-KR" sz="2800" dirty="0"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800100" lvl="1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학생 </a:t>
            </a:r>
            <a:r>
              <a:rPr lang="en-US" altLang="ko-KR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: 0(</a:t>
            </a:r>
            <a:r>
              <a:rPr lang="ko-KR" altLang="en-US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선택적</a:t>
            </a:r>
            <a:r>
              <a:rPr lang="en-US" altLang="ko-KR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)</a:t>
            </a:r>
          </a:p>
          <a:p>
            <a:pPr marL="800100" lvl="1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강좌 </a:t>
            </a:r>
            <a:r>
              <a:rPr lang="en-US" altLang="ko-KR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: 0(</a:t>
            </a:r>
            <a:r>
              <a:rPr lang="ko-KR" altLang="en-US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선택적</a:t>
            </a:r>
            <a:r>
              <a:rPr lang="en-US" altLang="ko-KR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)</a:t>
            </a:r>
          </a:p>
          <a:p>
            <a:pPr marL="800100" lvl="1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endParaRPr lang="en-US" altLang="ko-KR" sz="2800" dirty="0">
              <a:solidFill>
                <a:srgbClr val="EE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1DDF2F7-6F30-5AB4-D104-C70CE3360259}"/>
              </a:ext>
            </a:extLst>
          </p:cNvPr>
          <p:cNvSpPr/>
          <p:nvPr/>
        </p:nvSpPr>
        <p:spPr>
          <a:xfrm>
            <a:off x="1447800" y="2070675"/>
            <a:ext cx="2362200" cy="584775"/>
          </a:xfrm>
          <a:prstGeom prst="roundRect">
            <a:avLst/>
          </a:prstGeom>
          <a:solidFill>
            <a:srgbClr val="4F81BD">
              <a:alpha val="3098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>
                <a:solidFill>
                  <a:schemeClr val="tx1"/>
                </a:solidFill>
              </a:rPr>
              <a:t>학생</a:t>
            </a:r>
            <a:r>
              <a:rPr lang="en-US" altLang="ko-KR" sz="2400" b="1" dirty="0">
                <a:solidFill>
                  <a:schemeClr val="tx1"/>
                </a:solidFill>
              </a:rPr>
              <a:t>-</a:t>
            </a:r>
            <a:r>
              <a:rPr lang="ko-KR" altLang="en-US" sz="2400" b="1" dirty="0">
                <a:solidFill>
                  <a:schemeClr val="tx1"/>
                </a:solidFill>
              </a:rPr>
              <a:t>강좌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5CFDF5-E2E9-1D7A-CE17-CA5518D2245E}"/>
              </a:ext>
            </a:extLst>
          </p:cNvPr>
          <p:cNvSpPr txBox="1"/>
          <p:nvPr/>
        </p:nvSpPr>
        <p:spPr>
          <a:xfrm>
            <a:off x="5029200" y="4914900"/>
            <a:ext cx="9144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sz="2800" dirty="0"/>
              <a:t>학생은 </a:t>
            </a:r>
            <a:r>
              <a:rPr lang="ko-KR" altLang="en-US" sz="2800" b="1" dirty="0"/>
              <a:t>수강을 안 할 수도 있음</a:t>
            </a:r>
            <a:endParaRPr lang="ko-KR" altLang="en-US" sz="2800" dirty="0"/>
          </a:p>
          <a:p>
            <a:pPr>
              <a:buNone/>
            </a:pPr>
            <a:r>
              <a:rPr lang="ko-KR" altLang="en-US" sz="2800" dirty="0"/>
              <a:t>강좌는 </a:t>
            </a:r>
            <a:r>
              <a:rPr lang="ko-KR" altLang="en-US" sz="2800" b="1" dirty="0"/>
              <a:t>개설됐지만 수강생이 없을 수도 있음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8807547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FA9CA-F90C-8DE1-C29B-2B245366B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63E9C2F-77D7-BFA9-8637-5A64D4CB5CB9}"/>
              </a:ext>
            </a:extLst>
          </p:cNvPr>
          <p:cNvSpPr txBox="1"/>
          <p:nvPr/>
        </p:nvSpPr>
        <p:spPr>
          <a:xfrm>
            <a:off x="6400800" y="1485900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dirty="0"/>
              <a:t>교수 </a:t>
            </a:r>
            <a:r>
              <a:rPr lang="en-US" altLang="ko-KR" sz="3200" dirty="0"/>
              <a:t>— </a:t>
            </a:r>
            <a:r>
              <a:rPr lang="ko-KR" altLang="en-US" sz="3200" dirty="0"/>
              <a:t>담당 </a:t>
            </a:r>
            <a:r>
              <a:rPr lang="en-US" altLang="ko-KR" sz="3200" dirty="0"/>
              <a:t>— </a:t>
            </a:r>
            <a:r>
              <a:rPr lang="ko-KR" altLang="en-US" sz="3200" dirty="0"/>
              <a:t>강좌</a:t>
            </a:r>
          </a:p>
        </p:txBody>
      </p:sp>
      <p:sp>
        <p:nvSpPr>
          <p:cNvPr id="4" name="TextBox 17">
            <a:extLst>
              <a:ext uri="{FF2B5EF4-FFF2-40B4-BE49-F238E27FC236}">
                <a16:creationId xmlns:a16="http://schemas.microsoft.com/office/drawing/2014/main" id="{1D572E05-6265-84D4-DFA6-D453435BC29B}"/>
              </a:ext>
            </a:extLst>
          </p:cNvPr>
          <p:cNvSpPr txBox="1"/>
          <p:nvPr/>
        </p:nvSpPr>
        <p:spPr>
          <a:xfrm>
            <a:off x="1100682" y="2705100"/>
            <a:ext cx="11929517" cy="38095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 err="1">
                <a:latin typeface="Source Han Sans KR"/>
                <a:ea typeface="Source Han Sans KR"/>
                <a:cs typeface="Source Han Sans KR"/>
                <a:sym typeface="Source Han Sans KR"/>
              </a:rPr>
              <a:t>카디널리티</a:t>
            </a:r>
            <a:endParaRPr lang="en-US" altLang="ko-KR" sz="2800" dirty="0"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800100" lvl="1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ko-KR" sz="2800" dirty="0">
                <a:solidFill>
                  <a:srgbClr val="EE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1:N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참여도</a:t>
            </a:r>
            <a:endParaRPr lang="en-US" altLang="ko-KR" sz="2800" dirty="0"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800100" lvl="1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교수 </a:t>
            </a:r>
            <a:r>
              <a:rPr lang="en-US" altLang="ko-KR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: (0,N)</a:t>
            </a:r>
          </a:p>
          <a:p>
            <a:pPr marL="800100" lvl="1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강좌 </a:t>
            </a:r>
            <a:r>
              <a:rPr lang="en-US" altLang="ko-KR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: (1, 1)</a:t>
            </a:r>
          </a:p>
          <a:p>
            <a:pPr marL="800100" lvl="1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endParaRPr lang="en-US" altLang="ko-KR" sz="2800" dirty="0">
              <a:solidFill>
                <a:srgbClr val="EE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2F70F5D-122B-A02C-E0AE-7F2461D1F02D}"/>
              </a:ext>
            </a:extLst>
          </p:cNvPr>
          <p:cNvSpPr/>
          <p:nvPr/>
        </p:nvSpPr>
        <p:spPr>
          <a:xfrm>
            <a:off x="1447800" y="2070675"/>
            <a:ext cx="2362200" cy="584775"/>
          </a:xfrm>
          <a:prstGeom prst="roundRect">
            <a:avLst/>
          </a:prstGeom>
          <a:solidFill>
            <a:srgbClr val="4F81BD">
              <a:alpha val="3098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>
                <a:solidFill>
                  <a:schemeClr val="tx1"/>
                </a:solidFill>
              </a:rPr>
              <a:t>교수</a:t>
            </a:r>
            <a:r>
              <a:rPr lang="en-US" altLang="ko-KR" sz="2400" b="1" dirty="0">
                <a:solidFill>
                  <a:schemeClr val="tx1"/>
                </a:solidFill>
              </a:rPr>
              <a:t>-</a:t>
            </a:r>
            <a:r>
              <a:rPr lang="ko-KR" altLang="en-US" sz="2400" b="1" dirty="0">
                <a:solidFill>
                  <a:schemeClr val="tx1"/>
                </a:solidFill>
              </a:rPr>
              <a:t>강좌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DF753A-E338-96FC-9819-E91B950F2F94}"/>
              </a:ext>
            </a:extLst>
          </p:cNvPr>
          <p:cNvSpPr txBox="1"/>
          <p:nvPr/>
        </p:nvSpPr>
        <p:spPr>
          <a:xfrm>
            <a:off x="5029200" y="4914900"/>
            <a:ext cx="9144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/>
              <a:t>교수는 </a:t>
            </a:r>
            <a:r>
              <a:rPr lang="ko-KR" altLang="en-US" sz="2800" b="1" dirty="0"/>
              <a:t>강의를 안 할 수도 있음</a:t>
            </a:r>
            <a:endParaRPr lang="ko-KR" altLang="en-US" sz="2800" dirty="0"/>
          </a:p>
          <a:p>
            <a:r>
              <a:rPr lang="ko-KR" altLang="en-US" sz="2800" dirty="0"/>
              <a:t>강좌는 </a:t>
            </a:r>
            <a:r>
              <a:rPr lang="ko-KR" altLang="en-US" sz="2800" b="1" dirty="0"/>
              <a:t>반드시 담당 교수가 있어야 함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5470958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19269-9122-83CE-0D1C-167789E06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BF2497F7-6F0A-6275-D9E6-45E750D235E1}"/>
              </a:ext>
            </a:extLst>
          </p:cNvPr>
          <p:cNvSpPr/>
          <p:nvPr/>
        </p:nvSpPr>
        <p:spPr>
          <a:xfrm>
            <a:off x="507222" y="9779778"/>
            <a:ext cx="17273556" cy="0"/>
          </a:xfrm>
          <a:prstGeom prst="line">
            <a:avLst/>
          </a:prstGeom>
          <a:ln w="9525" cap="flat">
            <a:solidFill>
              <a:srgbClr val="AFAFA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53BFEAE7-D647-E550-B252-46F09A1ABAB7}"/>
              </a:ext>
            </a:extLst>
          </p:cNvPr>
          <p:cNvSpPr txBox="1"/>
          <p:nvPr/>
        </p:nvSpPr>
        <p:spPr>
          <a:xfrm>
            <a:off x="654050" y="1084026"/>
            <a:ext cx="7118350" cy="755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sz="4500" b="1" dirty="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ERD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834FDE06-244D-5A2C-8706-9B60B35ED2B5}"/>
              </a:ext>
            </a:extLst>
          </p:cNvPr>
          <p:cNvSpPr txBox="1"/>
          <p:nvPr/>
        </p:nvSpPr>
        <p:spPr>
          <a:xfrm>
            <a:off x="687867" y="606425"/>
            <a:ext cx="1885504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ko-KR" altLang="en-US" sz="2499" b="1" dirty="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데이터베이스</a:t>
            </a:r>
            <a:endParaRPr lang="en-US" sz="2499" b="1" dirty="0">
              <a:solidFill>
                <a:srgbClr val="EB1D26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3" name="TextBox 17">
            <a:extLst>
              <a:ext uri="{FF2B5EF4-FFF2-40B4-BE49-F238E27FC236}">
                <a16:creationId xmlns:a16="http://schemas.microsoft.com/office/drawing/2014/main" id="{6C3DCA95-2C4F-48CC-E74D-C333066C85AF}"/>
              </a:ext>
            </a:extLst>
          </p:cNvPr>
          <p:cNvSpPr txBox="1"/>
          <p:nvPr/>
        </p:nvSpPr>
        <p:spPr>
          <a:xfrm>
            <a:off x="1100682" y="2095500"/>
            <a:ext cx="11929517" cy="31632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다양한 테이블과 속성</a:t>
            </a:r>
            <a:r>
              <a:rPr lang="en-US" altLang="ko-KR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, </a:t>
            </a:r>
            <a:r>
              <a:rPr lang="ko-KR" altLang="en-US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그들 사이의 관계를 시각화하기 위한 도구</a:t>
            </a:r>
            <a:endParaRPr lang="en-US" altLang="ko-KR" sz="2800" dirty="0"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800100" lvl="1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/>
              <a:t>개체</a:t>
            </a:r>
            <a:r>
              <a:rPr lang="en-US" altLang="ko-KR" sz="2800" dirty="0">
                <a:solidFill>
                  <a:schemeClr val="accent3"/>
                </a:solidFill>
              </a:rPr>
              <a:t>Entity</a:t>
            </a:r>
            <a:r>
              <a:rPr lang="ko-KR" altLang="en-US" sz="2800" dirty="0"/>
              <a:t>와 그들 사이의 관계</a:t>
            </a:r>
            <a:r>
              <a:rPr lang="en-US" altLang="ko-KR" sz="2800" dirty="0">
                <a:solidFill>
                  <a:schemeClr val="accent3"/>
                </a:solidFill>
              </a:rPr>
              <a:t>Relationship</a:t>
            </a:r>
            <a:r>
              <a:rPr lang="ko-KR" altLang="en-US" sz="2800" dirty="0"/>
              <a:t>을 모델링하는 도표</a:t>
            </a:r>
            <a:r>
              <a:rPr lang="en-US" altLang="ko-KR" sz="2800" dirty="0">
                <a:solidFill>
                  <a:schemeClr val="accent3"/>
                </a:solidFill>
              </a:rPr>
              <a:t>Diagram</a:t>
            </a:r>
            <a:r>
              <a:rPr lang="en-US" altLang="ko-KR" sz="2800" dirty="0"/>
              <a:t>, </a:t>
            </a:r>
            <a:r>
              <a:rPr lang="en-US" altLang="ko-KR" sz="2800" dirty="0">
                <a:solidFill>
                  <a:schemeClr val="accent2"/>
                </a:solidFill>
              </a:rPr>
              <a:t>ERD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/>
              <a:t>개념적</a:t>
            </a:r>
            <a:r>
              <a:rPr lang="en-US" altLang="ko-KR" sz="2800" dirty="0"/>
              <a:t>, </a:t>
            </a:r>
            <a:r>
              <a:rPr lang="ko-KR" altLang="en-US" sz="2800" dirty="0"/>
              <a:t>논리적</a:t>
            </a:r>
            <a:r>
              <a:rPr lang="en-US" altLang="ko-KR" sz="2800" dirty="0"/>
              <a:t>, </a:t>
            </a:r>
            <a:r>
              <a:rPr lang="ko-KR" altLang="en-US" sz="2800" dirty="0"/>
              <a:t>물리적 </a:t>
            </a:r>
            <a:r>
              <a:rPr lang="en-US" altLang="ko-KR" sz="2800" dirty="0"/>
              <a:t>ERD</a:t>
            </a:r>
            <a:r>
              <a:rPr lang="ko-KR" altLang="en-US" sz="2800" dirty="0"/>
              <a:t>를 이용해 추상화 수준을 </a:t>
            </a:r>
            <a:r>
              <a:rPr lang="ko-KR" altLang="en-US" sz="2800" dirty="0" err="1"/>
              <a:t>낮춰나갈</a:t>
            </a:r>
            <a:r>
              <a:rPr lang="ko-KR" altLang="en-US" sz="2800" dirty="0"/>
              <a:t> 수 있음</a:t>
            </a:r>
          </a:p>
          <a:p>
            <a:pPr marL="800100" lvl="1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endParaRPr lang="en-US" altLang="ko-KR" sz="2800" dirty="0"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</p:spTree>
    <p:extLst>
      <p:ext uri="{BB962C8B-B14F-4D97-AF65-F5344CB8AC3E}">
        <p14:creationId xmlns:p14="http://schemas.microsoft.com/office/powerpoint/2010/main" val="10144684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547AD-95D1-1B8A-0185-24D047B3D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EF2FF7F3-45B4-2719-54E7-D43702227487}"/>
              </a:ext>
            </a:extLst>
          </p:cNvPr>
          <p:cNvSpPr/>
          <p:nvPr/>
        </p:nvSpPr>
        <p:spPr>
          <a:xfrm>
            <a:off x="507222" y="9779778"/>
            <a:ext cx="17273556" cy="0"/>
          </a:xfrm>
          <a:prstGeom prst="line">
            <a:avLst/>
          </a:prstGeom>
          <a:ln w="9525" cap="flat">
            <a:solidFill>
              <a:srgbClr val="AFAFA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658B0D65-817F-BD8A-ACB8-5C062E8E2DBC}"/>
              </a:ext>
            </a:extLst>
          </p:cNvPr>
          <p:cNvSpPr txBox="1"/>
          <p:nvPr/>
        </p:nvSpPr>
        <p:spPr>
          <a:xfrm>
            <a:off x="654050" y="1084026"/>
            <a:ext cx="7118350" cy="755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sz="4500" b="1" dirty="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ERD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D006B04B-57E6-29B7-968E-CDE56C2C77A8}"/>
              </a:ext>
            </a:extLst>
          </p:cNvPr>
          <p:cNvSpPr txBox="1"/>
          <p:nvPr/>
        </p:nvSpPr>
        <p:spPr>
          <a:xfrm>
            <a:off x="687867" y="606425"/>
            <a:ext cx="1885504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ko-KR" altLang="en-US" sz="2499" b="1" dirty="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데이터베이스</a:t>
            </a:r>
            <a:endParaRPr lang="en-US" sz="2499" b="1" dirty="0">
              <a:solidFill>
                <a:srgbClr val="EB1D26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3" name="TextBox 17">
            <a:extLst>
              <a:ext uri="{FF2B5EF4-FFF2-40B4-BE49-F238E27FC236}">
                <a16:creationId xmlns:a16="http://schemas.microsoft.com/office/drawing/2014/main" id="{62DDB9A4-B2D4-13C0-689D-0846BD561D46}"/>
              </a:ext>
            </a:extLst>
          </p:cNvPr>
          <p:cNvSpPr txBox="1"/>
          <p:nvPr/>
        </p:nvSpPr>
        <p:spPr>
          <a:xfrm>
            <a:off x="1100682" y="2095500"/>
            <a:ext cx="11929517" cy="7041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ko-KR" altLang="en-US" sz="2800" b="1" dirty="0"/>
              <a:t>시나리오</a:t>
            </a:r>
          </a:p>
          <a:p>
            <a:r>
              <a:rPr lang="ko-KR" altLang="en-US" sz="2800" dirty="0"/>
              <a:t>대학에서 학생이 강좌를 수강한다</a:t>
            </a:r>
            <a:r>
              <a:rPr lang="en-US" altLang="ko-KR" sz="2800" dirty="0"/>
              <a:t>.</a:t>
            </a:r>
          </a:p>
          <a:p>
            <a:r>
              <a:rPr lang="ko-KR" altLang="en-US" sz="2800" b="1" dirty="0"/>
              <a:t>엔티티</a:t>
            </a:r>
          </a:p>
          <a:p>
            <a:pPr lvl="1"/>
            <a:r>
              <a:rPr lang="ko-KR" altLang="en-US" sz="2800" b="1" dirty="0"/>
              <a:t>학생</a:t>
            </a:r>
            <a:r>
              <a:rPr lang="en-US" altLang="ko-KR" sz="2800" b="1" dirty="0"/>
              <a:t>(Student)</a:t>
            </a:r>
            <a:endParaRPr lang="ko-KR" altLang="en-US" sz="2800" dirty="0"/>
          </a:p>
          <a:p>
            <a:pPr lvl="1"/>
            <a:r>
              <a:rPr lang="ko-KR" altLang="en-US" sz="2800" dirty="0"/>
              <a:t>학번 </a:t>
            </a:r>
            <a:r>
              <a:rPr lang="en-US" altLang="ko-KR" sz="2800" dirty="0"/>
              <a:t>(PK)</a:t>
            </a:r>
          </a:p>
          <a:p>
            <a:pPr lvl="1"/>
            <a:r>
              <a:rPr lang="ko-KR" altLang="en-US" sz="2800" dirty="0"/>
              <a:t>이름</a:t>
            </a:r>
          </a:p>
          <a:p>
            <a:pPr lvl="1"/>
            <a:r>
              <a:rPr lang="ko-KR" altLang="en-US" sz="2800" dirty="0"/>
              <a:t>학과</a:t>
            </a:r>
          </a:p>
          <a:p>
            <a:pPr lvl="1"/>
            <a:r>
              <a:rPr lang="ko-KR" altLang="en-US" sz="2800" b="1" dirty="0"/>
              <a:t>강좌</a:t>
            </a:r>
            <a:r>
              <a:rPr lang="en-US" altLang="ko-KR" sz="2800" b="1" dirty="0"/>
              <a:t>(Course)</a:t>
            </a:r>
            <a:endParaRPr lang="ko-KR" altLang="en-US" sz="2800" dirty="0"/>
          </a:p>
          <a:p>
            <a:pPr lvl="1"/>
            <a:r>
              <a:rPr lang="ko-KR" altLang="en-US" sz="2800" dirty="0"/>
              <a:t>강좌번호 </a:t>
            </a:r>
            <a:r>
              <a:rPr lang="en-US" altLang="ko-KR" sz="2800" dirty="0"/>
              <a:t>(PK)</a:t>
            </a:r>
          </a:p>
          <a:p>
            <a:pPr lvl="1"/>
            <a:r>
              <a:rPr lang="ko-KR" altLang="en-US" sz="2800" dirty="0"/>
              <a:t>과목명</a:t>
            </a:r>
          </a:p>
          <a:p>
            <a:pPr lvl="1"/>
            <a:r>
              <a:rPr lang="ko-KR" altLang="en-US" sz="2800" dirty="0"/>
              <a:t>학점</a:t>
            </a:r>
          </a:p>
          <a:p>
            <a:r>
              <a:rPr lang="ko-KR" altLang="en-US" sz="2800" b="1" dirty="0"/>
              <a:t>관계</a:t>
            </a:r>
          </a:p>
          <a:p>
            <a:r>
              <a:rPr lang="en-US" altLang="ko-KR" sz="2800" b="1" dirty="0"/>
              <a:t>     </a:t>
            </a:r>
            <a:r>
              <a:rPr lang="ko-KR" altLang="en-US" sz="2800" b="1" dirty="0"/>
              <a:t>수강</a:t>
            </a:r>
            <a:r>
              <a:rPr lang="en-US" altLang="ko-KR" sz="2800" b="1" dirty="0"/>
              <a:t>(Enroll)</a:t>
            </a:r>
            <a:endParaRPr lang="ko-KR" altLang="en-US" sz="2800" dirty="0"/>
          </a:p>
          <a:p>
            <a:r>
              <a:rPr lang="ko-KR" altLang="en-US" sz="2800" b="1" dirty="0"/>
              <a:t>관계 속성</a:t>
            </a:r>
          </a:p>
          <a:p>
            <a:r>
              <a:rPr lang="ko-KR" altLang="en-US" sz="2800" dirty="0"/>
              <a:t>성적</a:t>
            </a:r>
          </a:p>
          <a:p>
            <a:pPr marL="800100" lvl="1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endParaRPr lang="en-US" altLang="ko-KR" sz="2800" dirty="0"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</p:spTree>
    <p:extLst>
      <p:ext uri="{BB962C8B-B14F-4D97-AF65-F5344CB8AC3E}">
        <p14:creationId xmlns:p14="http://schemas.microsoft.com/office/powerpoint/2010/main" val="27359158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E3DC4-5620-E73F-7952-0CDD58BC0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61A41552-99FF-D48E-2661-34CC32BD1DFB}"/>
              </a:ext>
            </a:extLst>
          </p:cNvPr>
          <p:cNvSpPr/>
          <p:nvPr/>
        </p:nvSpPr>
        <p:spPr>
          <a:xfrm>
            <a:off x="507222" y="9779778"/>
            <a:ext cx="17273556" cy="0"/>
          </a:xfrm>
          <a:prstGeom prst="line">
            <a:avLst/>
          </a:prstGeom>
          <a:ln w="9525" cap="flat">
            <a:solidFill>
              <a:srgbClr val="AFAFA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9325D346-EF11-F7BB-85B2-2AA8A4D83978}"/>
              </a:ext>
            </a:extLst>
          </p:cNvPr>
          <p:cNvSpPr txBox="1"/>
          <p:nvPr/>
        </p:nvSpPr>
        <p:spPr>
          <a:xfrm>
            <a:off x="654050" y="1084026"/>
            <a:ext cx="7118350" cy="755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sz="4500" b="1" dirty="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ERD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E01F6D44-2FDB-23A4-F74B-83DBA83E3CA0}"/>
              </a:ext>
            </a:extLst>
          </p:cNvPr>
          <p:cNvSpPr txBox="1"/>
          <p:nvPr/>
        </p:nvSpPr>
        <p:spPr>
          <a:xfrm>
            <a:off x="687867" y="606425"/>
            <a:ext cx="1885504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ko-KR" altLang="en-US" sz="2499" b="1" dirty="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데이터베이스</a:t>
            </a:r>
            <a:endParaRPr lang="en-US" sz="2499" b="1" dirty="0">
              <a:solidFill>
                <a:srgbClr val="EB1D26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3" name="TextBox 17">
            <a:extLst>
              <a:ext uri="{FF2B5EF4-FFF2-40B4-BE49-F238E27FC236}">
                <a16:creationId xmlns:a16="http://schemas.microsoft.com/office/drawing/2014/main" id="{BD10E0F6-BAE6-0ED0-101F-9D1FE5880015}"/>
              </a:ext>
            </a:extLst>
          </p:cNvPr>
          <p:cNvSpPr txBox="1"/>
          <p:nvPr/>
        </p:nvSpPr>
        <p:spPr>
          <a:xfrm>
            <a:off x="2209800" y="1349644"/>
            <a:ext cx="11929517" cy="81868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ko-KR" altLang="en-US" sz="2800" b="1" dirty="0"/>
              <a:t>시나리오</a:t>
            </a:r>
          </a:p>
          <a:p>
            <a:r>
              <a:rPr lang="ko-KR" altLang="en-US" sz="2800" dirty="0"/>
              <a:t>고객이 주문을 하고 주문에는 여러 상품이 포함된다</a:t>
            </a:r>
            <a:r>
              <a:rPr lang="en-US" altLang="ko-KR" sz="2800" dirty="0"/>
              <a:t>.</a:t>
            </a:r>
          </a:p>
          <a:p>
            <a:r>
              <a:rPr lang="ko-KR" altLang="en-US" sz="2800" b="1" dirty="0"/>
              <a:t>엔티티</a:t>
            </a:r>
          </a:p>
          <a:p>
            <a:pPr lvl="1"/>
            <a:r>
              <a:rPr lang="en-US" altLang="ko-KR" sz="2800" b="1" dirty="0"/>
              <a:t>Customer</a:t>
            </a:r>
            <a:endParaRPr lang="en-US" altLang="ko-KR" sz="2800" dirty="0"/>
          </a:p>
          <a:p>
            <a:pPr lvl="1"/>
            <a:r>
              <a:rPr lang="en-US" altLang="ko-KR" sz="2800" dirty="0" err="1"/>
              <a:t>customer_id</a:t>
            </a:r>
            <a:r>
              <a:rPr lang="en-US" altLang="ko-KR" sz="2800" dirty="0"/>
              <a:t> (PK)</a:t>
            </a:r>
          </a:p>
          <a:p>
            <a:pPr lvl="1"/>
            <a:r>
              <a:rPr lang="en-US" altLang="ko-KR" sz="2800" dirty="0"/>
              <a:t>name</a:t>
            </a:r>
          </a:p>
          <a:p>
            <a:pPr lvl="1"/>
            <a:r>
              <a:rPr lang="en-US" altLang="ko-KR" sz="2800" dirty="0"/>
              <a:t>phone</a:t>
            </a:r>
          </a:p>
          <a:p>
            <a:pPr lvl="1"/>
            <a:r>
              <a:rPr lang="en-US" altLang="ko-KR" sz="2800" b="1" dirty="0"/>
              <a:t>Order</a:t>
            </a:r>
            <a:endParaRPr lang="en-US" altLang="ko-KR" sz="2800" dirty="0"/>
          </a:p>
          <a:p>
            <a:pPr lvl="1"/>
            <a:r>
              <a:rPr lang="en-US" altLang="ko-KR" sz="2800" dirty="0" err="1"/>
              <a:t>order_id</a:t>
            </a:r>
            <a:r>
              <a:rPr lang="en-US" altLang="ko-KR" sz="2800" dirty="0"/>
              <a:t> (PK)</a:t>
            </a:r>
          </a:p>
          <a:p>
            <a:pPr lvl="1"/>
            <a:r>
              <a:rPr lang="en-US" altLang="ko-KR" sz="2800" dirty="0" err="1"/>
              <a:t>order_date</a:t>
            </a:r>
            <a:endParaRPr lang="en-US" altLang="ko-KR" sz="2800" dirty="0"/>
          </a:p>
          <a:p>
            <a:pPr lvl="1"/>
            <a:r>
              <a:rPr lang="en-US" altLang="ko-KR" sz="2800" dirty="0" err="1"/>
              <a:t>customer_id</a:t>
            </a:r>
            <a:r>
              <a:rPr lang="en-US" altLang="ko-KR" sz="2800" dirty="0"/>
              <a:t> (FK)</a:t>
            </a:r>
          </a:p>
          <a:p>
            <a:pPr lvl="1"/>
            <a:r>
              <a:rPr lang="en-US" altLang="ko-KR" sz="2800" b="1" dirty="0"/>
              <a:t>Product</a:t>
            </a:r>
            <a:endParaRPr lang="en-US" altLang="ko-KR" sz="2800" dirty="0"/>
          </a:p>
          <a:p>
            <a:pPr lvl="1"/>
            <a:r>
              <a:rPr lang="en-US" altLang="ko-KR" sz="2800" dirty="0" err="1"/>
              <a:t>product_id</a:t>
            </a:r>
            <a:r>
              <a:rPr lang="en-US" altLang="ko-KR" sz="2800" dirty="0"/>
              <a:t> (PK)</a:t>
            </a:r>
          </a:p>
          <a:p>
            <a:pPr lvl="1"/>
            <a:r>
              <a:rPr lang="en-US" altLang="ko-KR" sz="2800" dirty="0" err="1"/>
              <a:t>product_name</a:t>
            </a:r>
            <a:endParaRPr lang="en-US" altLang="ko-KR" sz="2800" dirty="0"/>
          </a:p>
          <a:p>
            <a:pPr lvl="1"/>
            <a:r>
              <a:rPr lang="en-US" altLang="ko-KR" sz="2800" dirty="0"/>
              <a:t>price</a:t>
            </a:r>
          </a:p>
          <a:p>
            <a:pPr lvl="1"/>
            <a:r>
              <a:rPr lang="en-US" altLang="ko-KR" sz="2800" b="1" dirty="0" err="1"/>
              <a:t>OrderItem</a:t>
            </a:r>
            <a:r>
              <a:rPr lang="en-US" altLang="ko-KR" sz="2800" dirty="0"/>
              <a:t> (</a:t>
            </a:r>
            <a:r>
              <a:rPr lang="ko-KR" altLang="en-US" sz="2800" dirty="0"/>
              <a:t>연결 엔티티</a:t>
            </a:r>
            <a:r>
              <a:rPr lang="en-US" altLang="ko-KR" sz="2800" dirty="0"/>
              <a:t>)</a:t>
            </a:r>
          </a:p>
          <a:p>
            <a:pPr lvl="1"/>
            <a:r>
              <a:rPr lang="en-US" altLang="ko-KR" sz="2800" dirty="0" err="1"/>
              <a:t>order_id</a:t>
            </a:r>
            <a:r>
              <a:rPr lang="en-US" altLang="ko-KR" sz="2800" dirty="0"/>
              <a:t> (PK, FK)</a:t>
            </a:r>
          </a:p>
          <a:p>
            <a:pPr lvl="1"/>
            <a:r>
              <a:rPr lang="en-US" altLang="ko-KR" sz="2800" dirty="0" err="1"/>
              <a:t>product_id</a:t>
            </a:r>
            <a:r>
              <a:rPr lang="en-US" altLang="ko-KR" sz="2800" dirty="0"/>
              <a:t> (PK, FK)</a:t>
            </a:r>
          </a:p>
          <a:p>
            <a:pPr lvl="1"/>
            <a:r>
              <a:rPr lang="en-US" altLang="ko-KR" sz="2800" dirty="0"/>
              <a:t>quantity</a:t>
            </a:r>
          </a:p>
        </p:txBody>
      </p:sp>
    </p:spTree>
    <p:extLst>
      <p:ext uri="{BB962C8B-B14F-4D97-AF65-F5344CB8AC3E}">
        <p14:creationId xmlns:p14="http://schemas.microsoft.com/office/powerpoint/2010/main" val="37137695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22644-364B-8A47-1B7F-3354DD046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BF3C0D70-7EBE-1BC0-5F85-7E904C954793}"/>
              </a:ext>
            </a:extLst>
          </p:cNvPr>
          <p:cNvSpPr/>
          <p:nvPr/>
        </p:nvSpPr>
        <p:spPr>
          <a:xfrm>
            <a:off x="507222" y="9779778"/>
            <a:ext cx="17273556" cy="0"/>
          </a:xfrm>
          <a:prstGeom prst="line">
            <a:avLst/>
          </a:prstGeom>
          <a:ln w="9525" cap="flat">
            <a:solidFill>
              <a:srgbClr val="AFAFA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E73CB4E6-759F-8F84-1C38-030C3B7E182D}"/>
              </a:ext>
            </a:extLst>
          </p:cNvPr>
          <p:cNvSpPr txBox="1"/>
          <p:nvPr/>
        </p:nvSpPr>
        <p:spPr>
          <a:xfrm>
            <a:off x="1100682" y="4250569"/>
            <a:ext cx="14367918" cy="671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ko-KR" altLang="en-US" sz="3999" b="1" dirty="0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삽입</a:t>
            </a:r>
            <a:r>
              <a:rPr lang="en-US" altLang="ko-KR" sz="3999" b="1" dirty="0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/</a:t>
            </a:r>
            <a:r>
              <a:rPr lang="ko-KR" altLang="en-US" sz="3999" b="1" dirty="0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갱신</a:t>
            </a:r>
            <a:r>
              <a:rPr lang="en-US" altLang="ko-KR" sz="3999" b="1" dirty="0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/</a:t>
            </a:r>
            <a:r>
              <a:rPr lang="ko-KR" altLang="en-US" sz="3999" b="1" dirty="0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삭제 이상 발생</a:t>
            </a:r>
            <a:endParaRPr lang="en-US" sz="3999" b="1" dirty="0">
              <a:solidFill>
                <a:srgbClr val="000000"/>
              </a:solidFill>
              <a:latin typeface="Source Han Sans KR Medium"/>
              <a:ea typeface="Source Han Sans KR Medium"/>
              <a:cs typeface="Source Han Sans KR Medium"/>
              <a:sym typeface="Source Han Sans KR Medium"/>
            </a:endParaRP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2FE366C-BBF0-5637-E9B5-C48287DD2CE1}"/>
              </a:ext>
            </a:extLst>
          </p:cNvPr>
          <p:cNvSpPr txBox="1"/>
          <p:nvPr/>
        </p:nvSpPr>
        <p:spPr>
          <a:xfrm>
            <a:off x="654050" y="1084026"/>
            <a:ext cx="3314700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ko-KR" altLang="en-US" sz="4500" b="1" dirty="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데이터 이상</a:t>
            </a:r>
            <a:endParaRPr lang="en-US" sz="4500" b="1" dirty="0">
              <a:solidFill>
                <a:srgbClr val="EB1D26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D249F55F-E4E5-C662-3B01-3FED6435BCE6}"/>
              </a:ext>
            </a:extLst>
          </p:cNvPr>
          <p:cNvSpPr txBox="1"/>
          <p:nvPr/>
        </p:nvSpPr>
        <p:spPr>
          <a:xfrm>
            <a:off x="687867" y="606425"/>
            <a:ext cx="1885504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ko-KR" altLang="en-US" sz="2499" b="1" dirty="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데이터베이스</a:t>
            </a:r>
            <a:endParaRPr lang="en-US" sz="2499" b="1" dirty="0">
              <a:solidFill>
                <a:srgbClr val="EB1D26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9DF32769-4C99-B92D-CE82-F882B9B66C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73315"/>
            <a:ext cx="10955279" cy="1438476"/>
          </a:xfrm>
          <a:prstGeom prst="rect">
            <a:avLst/>
          </a:prstGeom>
        </p:spPr>
      </p:pic>
      <p:sp>
        <p:nvSpPr>
          <p:cNvPr id="4" name="TextBox 17">
            <a:extLst>
              <a:ext uri="{FF2B5EF4-FFF2-40B4-BE49-F238E27FC236}">
                <a16:creationId xmlns:a16="http://schemas.microsoft.com/office/drawing/2014/main" id="{07A7459C-AFEC-7389-3604-B253B9E90665}"/>
              </a:ext>
            </a:extLst>
          </p:cNvPr>
          <p:cNvSpPr txBox="1"/>
          <p:nvPr/>
        </p:nvSpPr>
        <p:spPr>
          <a:xfrm>
            <a:off x="1100683" y="5143500"/>
            <a:ext cx="11929517" cy="25169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박소연 강사의 코어 </a:t>
            </a:r>
            <a:r>
              <a:rPr lang="ko-KR" altLang="en-US" sz="2800" dirty="0" err="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필라테스를</a:t>
            </a:r>
            <a:r>
              <a:rPr lang="ko-KR" altLang="en-US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개설하고 싶다면</a:t>
            </a:r>
            <a:r>
              <a:rPr lang="en-US" altLang="ko-KR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?</a:t>
            </a:r>
          </a:p>
          <a:p>
            <a:pPr marL="342900" indent="-342900" algn="l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박소연 강사의 연락처가 변경된다면</a:t>
            </a:r>
            <a:r>
              <a:rPr lang="en-US" altLang="ko-KR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?</a:t>
            </a:r>
          </a:p>
          <a:p>
            <a:pPr marL="342900" indent="-342900" algn="l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오현우씨가 수강을 취소한다면</a:t>
            </a:r>
            <a:r>
              <a:rPr lang="en-US" altLang="ko-KR" sz="2800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?</a:t>
            </a:r>
          </a:p>
          <a:p>
            <a:pPr marL="342900" indent="-342900" algn="l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endParaRPr lang="en-US" sz="2800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</p:spTree>
    <p:extLst>
      <p:ext uri="{BB962C8B-B14F-4D97-AF65-F5344CB8AC3E}">
        <p14:creationId xmlns:p14="http://schemas.microsoft.com/office/powerpoint/2010/main" val="14020327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85DBD-DD25-A473-FA5B-7BE60A1B8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B1CB50D4-C7D4-EBE7-5DE8-654936B9B976}"/>
              </a:ext>
            </a:extLst>
          </p:cNvPr>
          <p:cNvSpPr/>
          <p:nvPr/>
        </p:nvSpPr>
        <p:spPr>
          <a:xfrm>
            <a:off x="507222" y="9779778"/>
            <a:ext cx="17273556" cy="0"/>
          </a:xfrm>
          <a:prstGeom prst="line">
            <a:avLst/>
          </a:prstGeom>
          <a:ln w="9525" cap="flat">
            <a:solidFill>
              <a:srgbClr val="AFAFA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F0151DBA-E9F3-BEF5-A384-0C356FE2676D}"/>
              </a:ext>
            </a:extLst>
          </p:cNvPr>
          <p:cNvSpPr txBox="1"/>
          <p:nvPr/>
        </p:nvSpPr>
        <p:spPr>
          <a:xfrm>
            <a:off x="654050" y="1084026"/>
            <a:ext cx="7118350" cy="755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ko-KR" altLang="en-US" sz="4500" b="1" dirty="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정규화</a:t>
            </a:r>
            <a:endParaRPr lang="en-US" sz="4500" b="1" dirty="0">
              <a:solidFill>
                <a:srgbClr val="EB1D26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29F73B8B-AABC-0548-1DA2-969596418B29}"/>
              </a:ext>
            </a:extLst>
          </p:cNvPr>
          <p:cNvSpPr txBox="1"/>
          <p:nvPr/>
        </p:nvSpPr>
        <p:spPr>
          <a:xfrm>
            <a:off x="687867" y="606425"/>
            <a:ext cx="1885504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ko-KR" altLang="en-US" sz="2499" b="1" dirty="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데이터베이스</a:t>
            </a:r>
            <a:endParaRPr lang="en-US" sz="2499" b="1" dirty="0">
              <a:solidFill>
                <a:srgbClr val="EB1D26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3" name="TextBox 17">
            <a:extLst>
              <a:ext uri="{FF2B5EF4-FFF2-40B4-BE49-F238E27FC236}">
                <a16:creationId xmlns:a16="http://schemas.microsoft.com/office/drawing/2014/main" id="{CD22FDBF-5BF2-2F00-A287-371227AE0A7C}"/>
              </a:ext>
            </a:extLst>
          </p:cNvPr>
          <p:cNvSpPr txBox="1"/>
          <p:nvPr/>
        </p:nvSpPr>
        <p:spPr>
          <a:xfrm>
            <a:off x="1100682" y="2095500"/>
            <a:ext cx="11929517" cy="31632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테이블 내의 중복으로 인한 데이터 이상 문제를 해결하는 과정</a:t>
            </a:r>
            <a:endParaRPr lang="en-US" altLang="ko-KR" sz="2800" dirty="0"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800100" lvl="1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갱신</a:t>
            </a:r>
            <a:r>
              <a:rPr lang="en-US" altLang="ko-KR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/</a:t>
            </a:r>
            <a:r>
              <a:rPr lang="ko-KR" altLang="en-US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삽입</a:t>
            </a:r>
            <a:r>
              <a:rPr lang="en-US" altLang="ko-KR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/</a:t>
            </a:r>
            <a:r>
              <a:rPr lang="ko-KR" altLang="en-US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삭제 이상</a:t>
            </a:r>
            <a:endParaRPr lang="en-US" altLang="ko-KR" sz="2800" dirty="0"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여러 단계에 걸쳐 이루어짐 </a:t>
            </a:r>
            <a:endParaRPr lang="en-US" altLang="ko-KR" sz="2800" dirty="0"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800100" lvl="1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/>
              <a:t>일반적으로 제</a:t>
            </a:r>
            <a:r>
              <a:rPr lang="en-US" altLang="ko-KR" sz="2800" dirty="0"/>
              <a:t>3</a:t>
            </a:r>
            <a:r>
              <a:rPr lang="ko-KR" altLang="en-US" sz="2800" dirty="0"/>
              <a:t>정규형</a:t>
            </a:r>
            <a:r>
              <a:rPr lang="en-US" altLang="ko-KR" sz="2800" dirty="0"/>
              <a:t>(3NF)</a:t>
            </a:r>
            <a:r>
              <a:rPr lang="ko-KR" altLang="en-US" sz="2800" dirty="0"/>
              <a:t>까지 달성하는 것을 목표로 함</a:t>
            </a:r>
          </a:p>
          <a:p>
            <a:pPr marL="800100" lvl="1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endParaRPr lang="en-US" altLang="ko-KR" sz="2800" dirty="0"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</p:spTree>
    <p:extLst>
      <p:ext uri="{BB962C8B-B14F-4D97-AF65-F5344CB8AC3E}">
        <p14:creationId xmlns:p14="http://schemas.microsoft.com/office/powerpoint/2010/main" val="28038595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354ED-20E1-6650-102F-D27C34421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0438F88D-6339-7C9E-FE31-5688A824EE80}"/>
              </a:ext>
            </a:extLst>
          </p:cNvPr>
          <p:cNvSpPr/>
          <p:nvPr/>
        </p:nvSpPr>
        <p:spPr>
          <a:xfrm>
            <a:off x="507222" y="9779778"/>
            <a:ext cx="17273556" cy="0"/>
          </a:xfrm>
          <a:prstGeom prst="line">
            <a:avLst/>
          </a:prstGeom>
          <a:ln w="9525" cap="flat">
            <a:solidFill>
              <a:srgbClr val="AFAFA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183CDBA6-FFBE-F3F4-099C-26498378495B}"/>
              </a:ext>
            </a:extLst>
          </p:cNvPr>
          <p:cNvSpPr txBox="1"/>
          <p:nvPr/>
        </p:nvSpPr>
        <p:spPr>
          <a:xfrm>
            <a:off x="654050" y="1084026"/>
            <a:ext cx="7118350" cy="755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ko-KR" altLang="en-US" sz="4500" b="1" dirty="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정규화</a:t>
            </a:r>
            <a:endParaRPr lang="en-US" sz="4500" b="1" dirty="0">
              <a:solidFill>
                <a:srgbClr val="EB1D26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496FF373-378C-D600-AC43-826195BFA757}"/>
              </a:ext>
            </a:extLst>
          </p:cNvPr>
          <p:cNvSpPr txBox="1"/>
          <p:nvPr/>
        </p:nvSpPr>
        <p:spPr>
          <a:xfrm>
            <a:off x="687867" y="606425"/>
            <a:ext cx="1885504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ko-KR" altLang="en-US" sz="2499" b="1" dirty="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데이터베이스</a:t>
            </a:r>
            <a:endParaRPr lang="en-US" sz="2499" b="1" dirty="0">
              <a:solidFill>
                <a:srgbClr val="EB1D26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3" name="TextBox 17">
            <a:extLst>
              <a:ext uri="{FF2B5EF4-FFF2-40B4-BE49-F238E27FC236}">
                <a16:creationId xmlns:a16="http://schemas.microsoft.com/office/drawing/2014/main" id="{CC84E338-C601-B654-C267-4AA96DBCB7C2}"/>
              </a:ext>
            </a:extLst>
          </p:cNvPr>
          <p:cNvSpPr txBox="1"/>
          <p:nvPr/>
        </p:nvSpPr>
        <p:spPr>
          <a:xfrm>
            <a:off x="1100682" y="2095500"/>
            <a:ext cx="11929517" cy="38095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>
                <a:latin typeface="Source Han Sans KR"/>
                <a:ea typeface="Source Han Sans KR"/>
                <a:sym typeface="Source Han Sans KR"/>
              </a:rPr>
              <a:t>제</a:t>
            </a:r>
            <a:r>
              <a:rPr lang="en-US" altLang="ko-KR" sz="2800" dirty="0">
                <a:latin typeface="Source Han Sans KR"/>
                <a:ea typeface="Source Han Sans KR"/>
                <a:sym typeface="Source Han Sans KR"/>
              </a:rPr>
              <a:t>1</a:t>
            </a:r>
            <a:r>
              <a:rPr lang="ko-KR" altLang="en-US" sz="2800" dirty="0">
                <a:latin typeface="Source Han Sans KR"/>
                <a:ea typeface="Source Han Sans KR"/>
                <a:sym typeface="Source Han Sans KR"/>
              </a:rPr>
              <a:t>정규형</a:t>
            </a:r>
            <a:r>
              <a:rPr lang="en-US" altLang="ko-KR" sz="2800" dirty="0">
                <a:latin typeface="Source Han Sans KR"/>
                <a:ea typeface="Source Han Sans KR"/>
                <a:sym typeface="Source Han Sans KR"/>
              </a:rPr>
              <a:t>(1NF)</a:t>
            </a:r>
          </a:p>
          <a:p>
            <a:pPr marL="800100" lvl="1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>
                <a:latin typeface="Source Han Sans KR"/>
                <a:ea typeface="Source Han Sans KR"/>
                <a:sym typeface="Source Han Sans KR"/>
              </a:rPr>
              <a:t>모든 속성은 </a:t>
            </a:r>
            <a:r>
              <a:rPr lang="ko-KR" altLang="en-US" sz="2800" dirty="0" err="1">
                <a:latin typeface="Source Han Sans KR"/>
                <a:ea typeface="Source Han Sans KR"/>
                <a:sym typeface="Source Han Sans KR"/>
              </a:rPr>
              <a:t>원자값을</a:t>
            </a:r>
            <a:r>
              <a:rPr lang="ko-KR" altLang="en-US" sz="2800" dirty="0">
                <a:latin typeface="Source Han Sans KR"/>
                <a:ea typeface="Source Han Sans KR"/>
                <a:sym typeface="Source Han Sans KR"/>
              </a:rPr>
              <a:t> 가져야 한다</a:t>
            </a:r>
            <a:endParaRPr lang="en-US" altLang="ko-KR" sz="2800" dirty="0">
              <a:latin typeface="Source Han Sans KR"/>
              <a:ea typeface="Source Han Sans KR"/>
              <a:sym typeface="Source Han Sans KR"/>
            </a:endParaRPr>
          </a:p>
          <a:p>
            <a:pPr marL="800100" lvl="1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 err="1">
                <a:latin typeface="Source Han Sans KR"/>
                <a:ea typeface="Source Han Sans KR"/>
                <a:sym typeface="Source Han Sans KR"/>
              </a:rPr>
              <a:t>원자값</a:t>
            </a:r>
            <a:r>
              <a:rPr lang="en-US" altLang="ko-KR" sz="2800" dirty="0">
                <a:latin typeface="Source Han Sans KR"/>
                <a:ea typeface="Source Han Sans KR"/>
                <a:sym typeface="Source Han Sans KR"/>
              </a:rPr>
              <a:t>(Atomic Value) : </a:t>
            </a:r>
            <a:r>
              <a:rPr lang="ko-KR" altLang="en-US" sz="2800" dirty="0">
                <a:latin typeface="Source Han Sans KR"/>
                <a:ea typeface="Source Han Sans KR"/>
                <a:sym typeface="Source Han Sans KR"/>
              </a:rPr>
              <a:t>더 이상 쪼갤 수 없는 가장 작은 값</a:t>
            </a:r>
            <a:endParaRPr lang="en-US" altLang="ko-KR" sz="2800" dirty="0">
              <a:latin typeface="Source Han Sans KR"/>
              <a:ea typeface="Source Han Sans KR"/>
              <a:sym typeface="Source Han Sans KR"/>
            </a:endParaRPr>
          </a:p>
          <a:p>
            <a:pPr marL="800100" lvl="1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>
                <a:latin typeface="Source Han Sans KR"/>
                <a:ea typeface="Source Han Sans KR"/>
                <a:sym typeface="Source Han Sans KR"/>
              </a:rPr>
              <a:t>실무에서는 대체로 여기서부터 출발</a:t>
            </a:r>
            <a:endParaRPr lang="en-US" altLang="ko-KR" sz="2800" dirty="0">
              <a:latin typeface="Source Han Sans KR"/>
              <a:ea typeface="Source Han Sans KR"/>
              <a:sym typeface="Source Han Sans KR"/>
            </a:endParaRPr>
          </a:p>
          <a:p>
            <a:pPr marL="800100" lvl="1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endParaRPr lang="ko-KR" altLang="en-US" sz="2800" dirty="0"/>
          </a:p>
          <a:p>
            <a:pPr marL="800100" lvl="1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endParaRPr lang="en-US" altLang="ko-KR" sz="2800" dirty="0"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5267B6C-A762-2406-C245-FE99BCC5B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2390" y="5446551"/>
            <a:ext cx="11281730" cy="2592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101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1A1F7-FA87-A721-CD0E-4BE6B1B68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7B3B916C-A11C-A818-2AA4-7DF1F9101AA2}"/>
              </a:ext>
            </a:extLst>
          </p:cNvPr>
          <p:cNvSpPr/>
          <p:nvPr/>
        </p:nvSpPr>
        <p:spPr>
          <a:xfrm>
            <a:off x="507222" y="9779778"/>
            <a:ext cx="17273556" cy="0"/>
          </a:xfrm>
          <a:prstGeom prst="line">
            <a:avLst/>
          </a:prstGeom>
          <a:ln w="9525" cap="flat">
            <a:solidFill>
              <a:srgbClr val="AFAFA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1B223980-595F-01BC-BD0B-E8BD76BC80A8}"/>
              </a:ext>
            </a:extLst>
          </p:cNvPr>
          <p:cNvSpPr txBox="1"/>
          <p:nvPr/>
        </p:nvSpPr>
        <p:spPr>
          <a:xfrm>
            <a:off x="654050" y="1084026"/>
            <a:ext cx="7118350" cy="755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ko-KR" altLang="en-US" sz="4500" b="1" dirty="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정규화</a:t>
            </a:r>
            <a:endParaRPr lang="en-US" sz="4500" b="1" dirty="0">
              <a:solidFill>
                <a:srgbClr val="EB1D26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7FF0C6A6-2286-E581-8F98-5AAE41D0CBFD}"/>
              </a:ext>
            </a:extLst>
          </p:cNvPr>
          <p:cNvSpPr txBox="1"/>
          <p:nvPr/>
        </p:nvSpPr>
        <p:spPr>
          <a:xfrm>
            <a:off x="687867" y="606425"/>
            <a:ext cx="1885504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ko-KR" altLang="en-US" sz="2499" b="1" dirty="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데이터베이스</a:t>
            </a:r>
            <a:endParaRPr lang="en-US" sz="2499" b="1" dirty="0">
              <a:solidFill>
                <a:srgbClr val="EB1D26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3" name="TextBox 17">
            <a:extLst>
              <a:ext uri="{FF2B5EF4-FFF2-40B4-BE49-F238E27FC236}">
                <a16:creationId xmlns:a16="http://schemas.microsoft.com/office/drawing/2014/main" id="{5E7C2B9C-F8DC-B82B-48F8-3FF170E034A0}"/>
              </a:ext>
            </a:extLst>
          </p:cNvPr>
          <p:cNvSpPr txBox="1"/>
          <p:nvPr/>
        </p:nvSpPr>
        <p:spPr>
          <a:xfrm>
            <a:off x="1100682" y="2095500"/>
            <a:ext cx="11929517" cy="31632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>
                <a:latin typeface="Source Han Sans KR"/>
                <a:ea typeface="Source Han Sans KR"/>
                <a:sym typeface="Source Han Sans KR"/>
              </a:rPr>
              <a:t>제</a:t>
            </a:r>
            <a:r>
              <a:rPr lang="en-US" altLang="ko-KR" sz="2800" dirty="0">
                <a:latin typeface="Source Han Sans KR"/>
                <a:ea typeface="Source Han Sans KR"/>
                <a:sym typeface="Source Han Sans KR"/>
              </a:rPr>
              <a:t>2</a:t>
            </a:r>
            <a:r>
              <a:rPr lang="ko-KR" altLang="en-US" sz="2800" dirty="0">
                <a:latin typeface="Source Han Sans KR"/>
                <a:ea typeface="Source Han Sans KR"/>
                <a:sym typeface="Source Han Sans KR"/>
              </a:rPr>
              <a:t>정규형</a:t>
            </a:r>
            <a:r>
              <a:rPr lang="en-US" altLang="ko-KR" sz="2800" dirty="0">
                <a:latin typeface="Source Han Sans KR"/>
                <a:ea typeface="Source Han Sans KR"/>
                <a:sym typeface="Source Han Sans KR"/>
              </a:rPr>
              <a:t>(2NF)</a:t>
            </a:r>
          </a:p>
          <a:p>
            <a:pPr marL="800100" lvl="1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>
                <a:latin typeface="Source Han Sans KR"/>
                <a:ea typeface="Source Han Sans KR"/>
                <a:sym typeface="Source Han Sans KR"/>
              </a:rPr>
              <a:t>모든 비</a:t>
            </a:r>
            <a:r>
              <a:rPr lang="en-US" altLang="ko-KR" sz="2800" dirty="0">
                <a:latin typeface="Source Han Sans KR"/>
                <a:ea typeface="Source Han Sans KR"/>
                <a:sym typeface="Source Han Sans KR"/>
              </a:rPr>
              <a:t>-</a:t>
            </a:r>
            <a:r>
              <a:rPr lang="ko-KR" altLang="en-US" sz="2800" dirty="0" err="1">
                <a:latin typeface="Source Han Sans KR"/>
                <a:ea typeface="Source Han Sans KR"/>
                <a:sym typeface="Source Han Sans KR"/>
              </a:rPr>
              <a:t>기본키</a:t>
            </a:r>
            <a:r>
              <a:rPr lang="ko-KR" altLang="en-US" sz="2800" dirty="0">
                <a:latin typeface="Source Han Sans KR"/>
                <a:ea typeface="Source Han Sans KR"/>
                <a:sym typeface="Source Han Sans KR"/>
              </a:rPr>
              <a:t> 속성이 </a:t>
            </a:r>
            <a:r>
              <a:rPr lang="ko-KR" altLang="en-US" sz="2800" dirty="0" err="1">
                <a:latin typeface="Source Han Sans KR"/>
                <a:ea typeface="Source Han Sans KR"/>
                <a:sym typeface="Source Han Sans KR"/>
              </a:rPr>
              <a:t>기본키</a:t>
            </a:r>
            <a:r>
              <a:rPr lang="ko-KR" altLang="en-US" sz="2800" dirty="0">
                <a:latin typeface="Source Han Sans KR"/>
                <a:ea typeface="Source Han Sans KR"/>
                <a:sym typeface="Source Han Sans KR"/>
              </a:rPr>
              <a:t> </a:t>
            </a:r>
            <a:r>
              <a:rPr lang="ko-KR" altLang="en-US" sz="2800" dirty="0">
                <a:solidFill>
                  <a:srgbClr val="EE0000"/>
                </a:solidFill>
                <a:latin typeface="Source Han Sans KR"/>
                <a:ea typeface="Source Han Sans KR"/>
                <a:sym typeface="Source Han Sans KR"/>
              </a:rPr>
              <a:t>전체</a:t>
            </a:r>
            <a:r>
              <a:rPr lang="ko-KR" altLang="en-US" sz="2800" dirty="0">
                <a:latin typeface="Source Han Sans KR"/>
                <a:ea typeface="Source Han Sans KR"/>
                <a:sym typeface="Source Han Sans KR"/>
              </a:rPr>
              <a:t>에 함수적으로 종속되어야 한다</a:t>
            </a:r>
            <a:endParaRPr lang="en-US" altLang="ko-KR" sz="2800" dirty="0">
              <a:latin typeface="Source Han Sans KR"/>
              <a:ea typeface="Source Han Sans KR"/>
              <a:sym typeface="Source Han Sans KR"/>
            </a:endParaRPr>
          </a:p>
          <a:p>
            <a:pPr marL="800100" lvl="1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>
                <a:latin typeface="Source Han Sans KR"/>
                <a:ea typeface="Source Han Sans KR"/>
                <a:sym typeface="Source Han Sans KR"/>
              </a:rPr>
              <a:t>함수적 종속</a:t>
            </a:r>
            <a:r>
              <a:rPr lang="en-US" altLang="ko-KR" sz="2800" dirty="0">
                <a:latin typeface="Source Han Sans KR"/>
                <a:ea typeface="Source Han Sans KR"/>
                <a:sym typeface="Source Han Sans KR"/>
              </a:rPr>
              <a:t>(X -&gt; Y) : X</a:t>
            </a:r>
            <a:r>
              <a:rPr lang="ko-KR" altLang="en-US" sz="2800" dirty="0">
                <a:latin typeface="Source Han Sans KR"/>
                <a:ea typeface="Source Han Sans KR"/>
                <a:sym typeface="Source Han Sans KR"/>
              </a:rPr>
              <a:t>를 알면 자동으로 </a:t>
            </a:r>
            <a:r>
              <a:rPr lang="en-US" altLang="ko-KR" sz="2800" dirty="0">
                <a:latin typeface="Source Han Sans KR"/>
                <a:ea typeface="Source Han Sans KR"/>
                <a:sym typeface="Source Han Sans KR"/>
              </a:rPr>
              <a:t>Y</a:t>
            </a:r>
            <a:r>
              <a:rPr lang="ko-KR" altLang="en-US" sz="2800" dirty="0">
                <a:latin typeface="Source Han Sans KR"/>
                <a:ea typeface="Source Han Sans KR"/>
                <a:sym typeface="Source Han Sans KR"/>
              </a:rPr>
              <a:t>가 결정되는 상태</a:t>
            </a:r>
            <a:endParaRPr lang="en-US" altLang="ko-KR" sz="2800" dirty="0">
              <a:latin typeface="Source Han Sans KR"/>
              <a:ea typeface="Source Han Sans KR"/>
              <a:sym typeface="Source Han Sans KR"/>
            </a:endParaRPr>
          </a:p>
          <a:p>
            <a:pPr marL="800100" lvl="1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>
                <a:latin typeface="Source Han Sans KR"/>
                <a:ea typeface="Source Han Sans KR"/>
                <a:sym typeface="Source Han Sans KR"/>
              </a:rPr>
              <a:t>기본키의 부분에만 종속되거나 아예 종속되지 않는 속성을 분리</a:t>
            </a:r>
            <a:endParaRPr lang="en-US" altLang="ko-KR" sz="2800" dirty="0">
              <a:latin typeface="Source Han Sans KR"/>
              <a:ea typeface="Source Han Sans KR"/>
              <a:sym typeface="Source Han Sans KR"/>
            </a:endParaRPr>
          </a:p>
          <a:p>
            <a:pPr marL="800100" lvl="1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endParaRPr lang="en-US" altLang="ko-KR" sz="2800" dirty="0"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67E16C7-BB8E-AC20-FD66-C351E4DEF5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802" y="5725644"/>
            <a:ext cx="7182427" cy="2465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5648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2DC83-53A0-2AE4-870B-7564859CC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52C4C53E-CCA8-F669-4744-BA36D05956B8}"/>
              </a:ext>
            </a:extLst>
          </p:cNvPr>
          <p:cNvSpPr/>
          <p:nvPr/>
        </p:nvSpPr>
        <p:spPr>
          <a:xfrm>
            <a:off x="507222" y="9779778"/>
            <a:ext cx="17273556" cy="0"/>
          </a:xfrm>
          <a:prstGeom prst="line">
            <a:avLst/>
          </a:prstGeom>
          <a:ln w="9525" cap="flat">
            <a:solidFill>
              <a:srgbClr val="AFAFA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14DC8484-5B5F-06F2-6748-30D62F529002}"/>
              </a:ext>
            </a:extLst>
          </p:cNvPr>
          <p:cNvSpPr txBox="1"/>
          <p:nvPr/>
        </p:nvSpPr>
        <p:spPr>
          <a:xfrm>
            <a:off x="654050" y="1084026"/>
            <a:ext cx="7118350" cy="755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ko-KR" altLang="en-US" sz="4500" b="1" dirty="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정규화</a:t>
            </a:r>
            <a:endParaRPr lang="en-US" sz="4500" b="1" dirty="0">
              <a:solidFill>
                <a:srgbClr val="EB1D26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40A78705-72BA-0D64-034A-E654B20D18FB}"/>
              </a:ext>
            </a:extLst>
          </p:cNvPr>
          <p:cNvSpPr txBox="1"/>
          <p:nvPr/>
        </p:nvSpPr>
        <p:spPr>
          <a:xfrm>
            <a:off x="687867" y="606425"/>
            <a:ext cx="1885504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ko-KR" altLang="en-US" sz="2499" b="1" dirty="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데이터베이스</a:t>
            </a:r>
            <a:endParaRPr lang="en-US" sz="2499" b="1" dirty="0">
              <a:solidFill>
                <a:srgbClr val="EB1D26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3" name="TextBox 17">
            <a:extLst>
              <a:ext uri="{FF2B5EF4-FFF2-40B4-BE49-F238E27FC236}">
                <a16:creationId xmlns:a16="http://schemas.microsoft.com/office/drawing/2014/main" id="{2B01921B-B78C-2AC4-8204-0974CB68A2B9}"/>
              </a:ext>
            </a:extLst>
          </p:cNvPr>
          <p:cNvSpPr txBox="1"/>
          <p:nvPr/>
        </p:nvSpPr>
        <p:spPr>
          <a:xfrm>
            <a:off x="1100682" y="2095500"/>
            <a:ext cx="11929517" cy="18705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>
                <a:latin typeface="Source Han Sans KR"/>
                <a:ea typeface="Source Han Sans KR"/>
                <a:sym typeface="Source Han Sans KR"/>
              </a:rPr>
              <a:t>제</a:t>
            </a:r>
            <a:r>
              <a:rPr lang="en-US" altLang="ko-KR" sz="2800" dirty="0">
                <a:latin typeface="Source Han Sans KR"/>
                <a:ea typeface="Source Han Sans KR"/>
                <a:sym typeface="Source Han Sans KR"/>
              </a:rPr>
              <a:t>3</a:t>
            </a:r>
            <a:r>
              <a:rPr lang="ko-KR" altLang="en-US" sz="2800" dirty="0">
                <a:latin typeface="Source Han Sans KR"/>
                <a:ea typeface="Source Han Sans KR"/>
                <a:sym typeface="Source Han Sans KR"/>
              </a:rPr>
              <a:t>정규형</a:t>
            </a:r>
            <a:r>
              <a:rPr lang="en-US" altLang="ko-KR" sz="2800" dirty="0">
                <a:latin typeface="Source Han Sans KR"/>
                <a:ea typeface="Source Han Sans KR"/>
                <a:sym typeface="Source Han Sans KR"/>
              </a:rPr>
              <a:t>(3NF)</a:t>
            </a:r>
          </a:p>
          <a:p>
            <a:pPr marL="800100" lvl="1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 err="1">
                <a:latin typeface="Source Han Sans KR"/>
                <a:ea typeface="Source Han Sans KR"/>
                <a:sym typeface="Source Han Sans KR"/>
              </a:rPr>
              <a:t>이행적</a:t>
            </a:r>
            <a:r>
              <a:rPr lang="ko-KR" altLang="en-US" sz="2800" dirty="0">
                <a:latin typeface="Source Han Sans KR"/>
                <a:ea typeface="Source Han Sans KR"/>
                <a:sym typeface="Source Han Sans KR"/>
              </a:rPr>
              <a:t> 함수 종속 제거</a:t>
            </a:r>
            <a:endParaRPr lang="en-US" altLang="ko-KR" sz="2800" dirty="0">
              <a:latin typeface="Source Han Sans KR"/>
              <a:ea typeface="Source Han Sans KR"/>
              <a:sym typeface="Source Han Sans KR"/>
            </a:endParaRPr>
          </a:p>
          <a:p>
            <a:pPr marL="800100" lvl="1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 err="1">
                <a:latin typeface="Source Han Sans KR"/>
                <a:ea typeface="Source Han Sans KR"/>
                <a:cs typeface="Source Han Sans KR"/>
                <a:sym typeface="Source Han Sans KR"/>
              </a:rPr>
              <a:t>이행적</a:t>
            </a:r>
            <a:r>
              <a:rPr lang="ko-KR" altLang="en-US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 함수 종속 </a:t>
            </a:r>
            <a:r>
              <a:rPr lang="en-US" altLang="ko-KR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: </a:t>
            </a:r>
            <a:r>
              <a:rPr lang="ko-KR" altLang="en-US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기본키가 아닌 속성에 다른 속성이 결정되는 상태</a:t>
            </a:r>
            <a:endParaRPr lang="en-US" altLang="ko-KR" sz="2800" dirty="0"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</p:spTree>
    <p:extLst>
      <p:ext uri="{BB962C8B-B14F-4D97-AF65-F5344CB8AC3E}">
        <p14:creationId xmlns:p14="http://schemas.microsoft.com/office/powerpoint/2010/main" val="28388594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971DC82-72CD-667F-CCD6-158DFA6E5B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2269807"/>
              </p:ext>
            </p:extLst>
          </p:nvPr>
        </p:nvGraphicFramePr>
        <p:xfrm>
          <a:off x="838200" y="1028700"/>
          <a:ext cx="11353800" cy="210312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1892300">
                  <a:extLst>
                    <a:ext uri="{9D8B030D-6E8A-4147-A177-3AD203B41FA5}">
                      <a16:colId xmlns:a16="http://schemas.microsoft.com/office/drawing/2014/main" val="1870059873"/>
                    </a:ext>
                  </a:extLst>
                </a:gridCol>
                <a:gridCol w="946150">
                  <a:extLst>
                    <a:ext uri="{9D8B030D-6E8A-4147-A177-3AD203B41FA5}">
                      <a16:colId xmlns:a16="http://schemas.microsoft.com/office/drawing/2014/main" val="1397447241"/>
                    </a:ext>
                  </a:extLst>
                </a:gridCol>
                <a:gridCol w="1419225">
                  <a:extLst>
                    <a:ext uri="{9D8B030D-6E8A-4147-A177-3AD203B41FA5}">
                      <a16:colId xmlns:a16="http://schemas.microsoft.com/office/drawing/2014/main" val="2166245693"/>
                    </a:ext>
                  </a:extLst>
                </a:gridCol>
                <a:gridCol w="1152525">
                  <a:extLst>
                    <a:ext uri="{9D8B030D-6E8A-4147-A177-3AD203B41FA5}">
                      <a16:colId xmlns:a16="http://schemas.microsoft.com/office/drawing/2014/main" val="2526855324"/>
                    </a:ext>
                  </a:extLst>
                </a:gridCol>
                <a:gridCol w="1685925">
                  <a:extLst>
                    <a:ext uri="{9D8B030D-6E8A-4147-A177-3AD203B41FA5}">
                      <a16:colId xmlns:a16="http://schemas.microsoft.com/office/drawing/2014/main" val="1377784124"/>
                    </a:ext>
                  </a:extLst>
                </a:gridCol>
                <a:gridCol w="1419225">
                  <a:extLst>
                    <a:ext uri="{9D8B030D-6E8A-4147-A177-3AD203B41FA5}">
                      <a16:colId xmlns:a16="http://schemas.microsoft.com/office/drawing/2014/main" val="479740089"/>
                    </a:ext>
                  </a:extLst>
                </a:gridCol>
                <a:gridCol w="1419225">
                  <a:extLst>
                    <a:ext uri="{9D8B030D-6E8A-4147-A177-3AD203B41FA5}">
                      <a16:colId xmlns:a16="http://schemas.microsoft.com/office/drawing/2014/main" val="332141643"/>
                    </a:ext>
                  </a:extLst>
                </a:gridCol>
                <a:gridCol w="1419225">
                  <a:extLst>
                    <a:ext uri="{9D8B030D-6E8A-4147-A177-3AD203B41FA5}">
                      <a16:colId xmlns:a16="http://schemas.microsoft.com/office/drawing/2014/main" val="16868595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student_id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student_name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major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course_id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course_name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professor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professor_phone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grade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20067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2021001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김민수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컴퓨터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CS101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데이터베이스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이교수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010-1111-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48009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2021001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김민수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컴퓨터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CS102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운영체제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박교수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010-2222-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44601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2021002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이지은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경영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CS101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데이터베이스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이교수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010-1111-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09778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2021003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박준호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수학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CS103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알고리즘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최교수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010-3333-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19434"/>
                  </a:ext>
                </a:extLst>
              </a:tr>
            </a:tbl>
          </a:graphicData>
        </a:graphic>
      </p:graphicFrame>
      <p:sp>
        <p:nvSpPr>
          <p:cNvPr id="3" name="TextBox 17">
            <a:extLst>
              <a:ext uri="{FF2B5EF4-FFF2-40B4-BE49-F238E27FC236}">
                <a16:creationId xmlns:a16="http://schemas.microsoft.com/office/drawing/2014/main" id="{19228B4D-CE66-BCE4-6322-013B13C2FA1C}"/>
              </a:ext>
            </a:extLst>
          </p:cNvPr>
          <p:cNvSpPr txBox="1"/>
          <p:nvPr/>
        </p:nvSpPr>
        <p:spPr>
          <a:xfrm>
            <a:off x="990600" y="4610100"/>
            <a:ext cx="11929517" cy="44559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ko-KR" sz="2800" dirty="0">
                <a:latin typeface="Source Han Sans KR"/>
                <a:ea typeface="Source Han Sans KR"/>
                <a:sym typeface="Source Han Sans KR"/>
              </a:rPr>
              <a:t>1NF : </a:t>
            </a:r>
            <a:r>
              <a:rPr lang="ko-KR" altLang="en-US" sz="2800" dirty="0">
                <a:latin typeface="Source Han Sans KR"/>
                <a:ea typeface="Source Han Sans KR"/>
                <a:sym typeface="Source Han Sans KR"/>
              </a:rPr>
              <a:t>이미 달성됨</a:t>
            </a:r>
            <a:endParaRPr lang="en-US" altLang="ko-KR" sz="2800" dirty="0">
              <a:latin typeface="Source Han Sans KR"/>
              <a:ea typeface="Source Han Sans KR"/>
              <a:sym typeface="Source Han Sans KR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ko-KR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2NF : </a:t>
            </a:r>
            <a:r>
              <a:rPr lang="ko-KR" altLang="en-US" sz="2800" dirty="0" err="1">
                <a:latin typeface="Source Han Sans KR"/>
                <a:ea typeface="Source Han Sans KR"/>
                <a:cs typeface="Source Han Sans KR"/>
                <a:sym typeface="Source Han Sans KR"/>
              </a:rPr>
              <a:t>기본키</a:t>
            </a:r>
            <a:r>
              <a:rPr lang="ko-KR" altLang="en-US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r>
              <a:rPr lang="en-US" altLang="ko-KR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(</a:t>
            </a:r>
            <a:r>
              <a:rPr lang="en-US" altLang="ko-KR" sz="2800" dirty="0" err="1">
                <a:latin typeface="Source Han Sans KR"/>
                <a:ea typeface="Source Han Sans KR"/>
                <a:cs typeface="Source Han Sans KR"/>
                <a:sym typeface="Source Han Sans KR"/>
              </a:rPr>
              <a:t>student_id</a:t>
            </a:r>
            <a:r>
              <a:rPr lang="en-US" altLang="ko-KR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, </a:t>
            </a:r>
            <a:r>
              <a:rPr lang="en-US" altLang="ko-KR" sz="2800" dirty="0" err="1">
                <a:latin typeface="Source Han Sans KR"/>
                <a:ea typeface="Source Han Sans KR"/>
                <a:cs typeface="Source Han Sans KR"/>
                <a:sym typeface="Source Han Sans KR"/>
              </a:rPr>
              <a:t>course_id</a:t>
            </a:r>
            <a:r>
              <a:rPr lang="en-US" altLang="ko-KR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)</a:t>
            </a:r>
          </a:p>
          <a:p>
            <a:pPr marL="800100" lvl="1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부분 함수 종속 식별</a:t>
            </a:r>
            <a:br>
              <a:rPr lang="en-US" altLang="ko-KR" sz="2800" dirty="0">
                <a:latin typeface="Source Han Sans KR"/>
                <a:ea typeface="Source Han Sans KR"/>
                <a:cs typeface="Source Han Sans KR"/>
                <a:sym typeface="Source Han Sans KR"/>
              </a:rPr>
            </a:br>
            <a:r>
              <a:rPr lang="en-US" altLang="ko-KR" sz="2800" dirty="0" err="1">
                <a:latin typeface="Source Han Sans KR"/>
                <a:ea typeface="Source Han Sans KR"/>
                <a:cs typeface="Source Han Sans KR"/>
                <a:sym typeface="Source Han Sans KR"/>
              </a:rPr>
              <a:t>student_id</a:t>
            </a:r>
            <a:r>
              <a:rPr lang="en-US" altLang="ko-KR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 → </a:t>
            </a:r>
            <a:r>
              <a:rPr lang="en-US" altLang="ko-KR" sz="2800" dirty="0" err="1">
                <a:latin typeface="Source Han Sans KR"/>
                <a:ea typeface="Source Han Sans KR"/>
                <a:cs typeface="Source Han Sans KR"/>
                <a:sym typeface="Source Han Sans KR"/>
              </a:rPr>
              <a:t>student_name</a:t>
            </a:r>
            <a:r>
              <a:rPr lang="en-US" altLang="ko-KR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, major</a:t>
            </a:r>
            <a:br>
              <a:rPr lang="en-US" altLang="ko-KR" sz="2800" dirty="0">
                <a:latin typeface="Source Han Sans KR"/>
                <a:ea typeface="Source Han Sans KR"/>
                <a:cs typeface="Source Han Sans KR"/>
                <a:sym typeface="Source Han Sans KR"/>
              </a:rPr>
            </a:br>
            <a:r>
              <a:rPr lang="en-US" altLang="ko-KR" sz="2800" dirty="0" err="1">
                <a:latin typeface="Source Han Sans KR"/>
                <a:ea typeface="Source Han Sans KR"/>
                <a:cs typeface="Source Han Sans KR"/>
                <a:sym typeface="Source Han Sans KR"/>
              </a:rPr>
              <a:t>course_id</a:t>
            </a:r>
            <a:r>
              <a:rPr lang="en-US" altLang="ko-KR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 → </a:t>
            </a:r>
            <a:r>
              <a:rPr lang="en-US" altLang="ko-KR" sz="2800" dirty="0" err="1">
                <a:latin typeface="Source Han Sans KR"/>
                <a:ea typeface="Source Han Sans KR"/>
                <a:cs typeface="Source Han Sans KR"/>
                <a:sym typeface="Source Han Sans KR"/>
              </a:rPr>
              <a:t>course_name</a:t>
            </a:r>
            <a:r>
              <a:rPr lang="en-US" altLang="ko-KR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, professor</a:t>
            </a:r>
          </a:p>
          <a:p>
            <a:pPr marL="800100" lvl="1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endParaRPr lang="en-US" altLang="ko-KR" sz="2800" dirty="0"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800100" lvl="1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endParaRPr lang="en-US" altLang="ko-KR" sz="2800" dirty="0"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</p:spTree>
    <p:extLst>
      <p:ext uri="{BB962C8B-B14F-4D97-AF65-F5344CB8AC3E}">
        <p14:creationId xmlns:p14="http://schemas.microsoft.com/office/powerpoint/2010/main" val="37109175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2F89BBE-7EE9-3805-8560-780E567AB4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6456908"/>
              </p:ext>
            </p:extLst>
          </p:nvPr>
        </p:nvGraphicFramePr>
        <p:xfrm>
          <a:off x="609600" y="876300"/>
          <a:ext cx="8229600" cy="146304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1125675765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46003318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3301611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student_id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student_name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major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09538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2021001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김민수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컴퓨터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90843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2021002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이지은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경영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6906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2021003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박준호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수학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0635201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ED2016CC-0898-70A5-4635-60E9494450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1543728"/>
              </p:ext>
            </p:extLst>
          </p:nvPr>
        </p:nvGraphicFramePr>
        <p:xfrm>
          <a:off x="609600" y="2705100"/>
          <a:ext cx="8229600" cy="146304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1328984738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31157537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062069895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6662378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course_id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course_name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professor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professor_phone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83168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CS101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데이터베이스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이교수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010-1111-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44968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CS102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운영체제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박교수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010-2222-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0535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CS103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알고리즘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최교수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010-3333-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8072558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709EBAB-E07E-7DA6-CFF9-A612508D28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6170150"/>
              </p:ext>
            </p:extLst>
          </p:nvPr>
        </p:nvGraphicFramePr>
        <p:xfrm>
          <a:off x="609600" y="4762500"/>
          <a:ext cx="8229600" cy="182880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102855632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877167306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9684042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student_id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course_id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grade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09039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2021001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CS101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10479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2021001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CS102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28139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2021002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CS101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40965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2021003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CS103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1761793"/>
                  </a:ext>
                </a:extLst>
              </a:tr>
            </a:tbl>
          </a:graphicData>
        </a:graphic>
      </p:graphicFrame>
      <p:sp>
        <p:nvSpPr>
          <p:cNvPr id="5" name="TextBox 17">
            <a:extLst>
              <a:ext uri="{FF2B5EF4-FFF2-40B4-BE49-F238E27FC236}">
                <a16:creationId xmlns:a16="http://schemas.microsoft.com/office/drawing/2014/main" id="{6C84F57C-B507-21D5-154B-B83AA12D14CE}"/>
              </a:ext>
            </a:extLst>
          </p:cNvPr>
          <p:cNvSpPr txBox="1"/>
          <p:nvPr/>
        </p:nvSpPr>
        <p:spPr>
          <a:xfrm>
            <a:off x="616857" y="6896100"/>
            <a:ext cx="11929517" cy="18705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ko-KR" sz="2800" dirty="0">
                <a:latin typeface="Source Han Sans KR"/>
                <a:ea typeface="Source Han Sans KR"/>
                <a:sym typeface="Source Han Sans KR"/>
              </a:rPr>
              <a:t>3NF </a:t>
            </a:r>
            <a:br>
              <a:rPr lang="en-US" altLang="ko-KR" sz="2800" dirty="0">
                <a:latin typeface="Source Han Sans KR"/>
                <a:ea typeface="Source Han Sans KR"/>
                <a:sym typeface="Source Han Sans KR"/>
              </a:rPr>
            </a:br>
            <a:r>
              <a:rPr lang="en-US" altLang="ko-KR" sz="2800" dirty="0">
                <a:latin typeface="Source Han Sans KR"/>
                <a:ea typeface="Source Han Sans KR"/>
                <a:sym typeface="Source Han Sans KR"/>
              </a:rPr>
              <a:t>	</a:t>
            </a:r>
            <a:r>
              <a:rPr lang="en-US" altLang="ko-KR" sz="2800" dirty="0" err="1">
                <a:latin typeface="Source Han Sans KR"/>
                <a:ea typeface="Source Han Sans KR"/>
                <a:sym typeface="Source Han Sans KR"/>
              </a:rPr>
              <a:t>course_id</a:t>
            </a:r>
            <a:r>
              <a:rPr lang="en-US" altLang="ko-KR" sz="2800" dirty="0">
                <a:latin typeface="Source Han Sans KR"/>
                <a:ea typeface="Source Han Sans KR"/>
                <a:sym typeface="Source Han Sans KR"/>
              </a:rPr>
              <a:t> → professor → </a:t>
            </a:r>
            <a:r>
              <a:rPr lang="en-US" altLang="ko-KR" sz="2800" dirty="0" err="1">
                <a:latin typeface="Source Han Sans KR"/>
                <a:ea typeface="Source Han Sans KR"/>
                <a:sym typeface="Source Han Sans KR"/>
              </a:rPr>
              <a:t>professor_phone</a:t>
            </a:r>
            <a:r>
              <a:rPr lang="en-US" altLang="ko-KR" sz="2800" dirty="0">
                <a:latin typeface="Source Han Sans KR"/>
                <a:ea typeface="Source Han Sans KR"/>
                <a:sym typeface="Source Han Sans KR"/>
              </a:rPr>
              <a:t> (</a:t>
            </a:r>
            <a:r>
              <a:rPr lang="ko-KR" altLang="en-US" sz="2800" dirty="0" err="1">
                <a:latin typeface="Source Han Sans KR"/>
                <a:ea typeface="Source Han Sans KR"/>
                <a:sym typeface="Source Han Sans KR"/>
              </a:rPr>
              <a:t>이행적</a:t>
            </a:r>
            <a:r>
              <a:rPr lang="ko-KR" altLang="en-US" sz="2800" dirty="0">
                <a:latin typeface="Source Han Sans KR"/>
                <a:ea typeface="Source Han Sans KR"/>
                <a:sym typeface="Source Han Sans KR"/>
              </a:rPr>
              <a:t> 종속</a:t>
            </a:r>
            <a:r>
              <a:rPr lang="en-US" altLang="ko-KR" sz="2800" dirty="0">
                <a:latin typeface="Source Han Sans KR"/>
                <a:ea typeface="Source Han Sans KR"/>
                <a:sym typeface="Source Han Sans KR"/>
              </a:rPr>
              <a:t>)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endParaRPr lang="en-US" altLang="ko-KR" sz="2800" dirty="0"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21B288-79DE-BBBD-FEF0-7E4A2D7EA3A7}"/>
              </a:ext>
            </a:extLst>
          </p:cNvPr>
          <p:cNvSpPr txBox="1"/>
          <p:nvPr/>
        </p:nvSpPr>
        <p:spPr>
          <a:xfrm>
            <a:off x="838200" y="8442097"/>
            <a:ext cx="9144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1" dirty="0"/>
              <a:t>Course</a:t>
            </a:r>
          </a:p>
          <a:p>
            <a:pPr>
              <a:buNone/>
            </a:pPr>
            <a:r>
              <a:rPr lang="en-US" altLang="ko-KR" dirty="0"/>
              <a:t>| </a:t>
            </a:r>
            <a:r>
              <a:rPr lang="en-US" altLang="ko-KR" dirty="0" err="1"/>
              <a:t>course_id</a:t>
            </a:r>
            <a:r>
              <a:rPr lang="en-US" altLang="ko-KR" dirty="0"/>
              <a:t> | </a:t>
            </a:r>
            <a:r>
              <a:rPr lang="en-US" altLang="ko-KR" dirty="0" err="1"/>
              <a:t>course_name</a:t>
            </a:r>
            <a:r>
              <a:rPr lang="en-US" altLang="ko-KR" dirty="0"/>
              <a:t> | </a:t>
            </a:r>
            <a:r>
              <a:rPr lang="en-US" altLang="ko-KR" dirty="0" err="1"/>
              <a:t>professor_id</a:t>
            </a:r>
            <a:r>
              <a:rPr lang="en-US" altLang="ko-KR" dirty="0"/>
              <a:t> |</a:t>
            </a:r>
          </a:p>
          <a:p>
            <a:pPr>
              <a:buNone/>
            </a:pPr>
            <a:br>
              <a:rPr lang="en-US" altLang="ko-KR" dirty="0"/>
            </a:br>
            <a:endParaRPr lang="en-US" altLang="ko-KR" dirty="0"/>
          </a:p>
          <a:p>
            <a:pPr>
              <a:buNone/>
            </a:pPr>
            <a:r>
              <a:rPr lang="en-US" altLang="ko-KR" b="1" dirty="0"/>
              <a:t>Professor</a:t>
            </a:r>
          </a:p>
          <a:p>
            <a:pPr>
              <a:buNone/>
            </a:pPr>
            <a:r>
              <a:rPr lang="en-US" altLang="ko-KR" dirty="0"/>
              <a:t>| </a:t>
            </a:r>
            <a:r>
              <a:rPr lang="en-US" altLang="ko-KR" dirty="0" err="1"/>
              <a:t>professor_id</a:t>
            </a:r>
            <a:r>
              <a:rPr lang="en-US" altLang="ko-KR" dirty="0"/>
              <a:t> | </a:t>
            </a:r>
            <a:r>
              <a:rPr lang="en-US" altLang="ko-KR" dirty="0" err="1"/>
              <a:t>professor_name</a:t>
            </a:r>
            <a:r>
              <a:rPr lang="en-US" altLang="ko-KR" dirty="0"/>
              <a:t> | </a:t>
            </a:r>
            <a:r>
              <a:rPr lang="en-US" altLang="ko-KR" dirty="0" err="1"/>
              <a:t>professor_phone</a:t>
            </a:r>
            <a:r>
              <a:rPr lang="en-US" altLang="ko-KR" dirty="0"/>
              <a:t> |</a:t>
            </a:r>
          </a:p>
        </p:txBody>
      </p:sp>
    </p:spTree>
    <p:extLst>
      <p:ext uri="{BB962C8B-B14F-4D97-AF65-F5344CB8AC3E}">
        <p14:creationId xmlns:p14="http://schemas.microsoft.com/office/powerpoint/2010/main" val="24640039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39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059923" y="4467353"/>
            <a:ext cx="4168155" cy="2481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89"/>
              </a:lnSpc>
              <a:spcBef>
                <a:spcPct val="0"/>
              </a:spcBef>
            </a:pPr>
            <a:r>
              <a:rPr lang="ko-KR" altLang="en-US" sz="7135" b="1" dirty="0">
                <a:solidFill>
                  <a:srgbClr val="FAFAFA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출석수업 과제물</a:t>
            </a:r>
            <a:endParaRPr lang="en-US" sz="7135" b="1" dirty="0">
              <a:solidFill>
                <a:srgbClr val="FAFAFA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6006614" y="990600"/>
            <a:ext cx="1252686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AFAFA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2080.05.30</a:t>
            </a:r>
          </a:p>
        </p:txBody>
      </p:sp>
      <p:sp>
        <p:nvSpPr>
          <p:cNvPr id="8" name="AutoShape 8"/>
          <p:cNvSpPr/>
          <p:nvPr/>
        </p:nvSpPr>
        <p:spPr>
          <a:xfrm>
            <a:off x="507222" y="9779778"/>
            <a:ext cx="17254506" cy="0"/>
          </a:xfrm>
          <a:prstGeom prst="line">
            <a:avLst/>
          </a:prstGeom>
          <a:ln w="9525" cap="flat">
            <a:solidFill>
              <a:srgbClr val="FAFAF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921035"/>
            <a:ext cx="12344400" cy="696344"/>
          </a:xfrm>
          <a:prstGeom prst="rect">
            <a:avLst/>
          </a:prstGeom>
        </p:spPr>
        <p:txBody>
          <a:bodyPr vert="horz" wrap="square" lIns="0" tIns="19050" rIns="0" bIns="0" rtlCol="0" anchor="ctr">
            <a:spAutoFit/>
          </a:bodyPr>
          <a:lstStyle/>
          <a:p>
            <a:pPr marL="19050">
              <a:spcBef>
                <a:spcPts val="150"/>
              </a:spcBef>
            </a:pPr>
            <a:r>
              <a:rPr spc="-630" dirty="0"/>
              <a:t>과제물</a:t>
            </a:r>
            <a:r>
              <a:rPr spc="127" dirty="0"/>
              <a:t> </a:t>
            </a:r>
            <a:r>
              <a:rPr spc="-630" dirty="0"/>
              <a:t>제출시</a:t>
            </a:r>
            <a:r>
              <a:rPr spc="143" dirty="0"/>
              <a:t> </a:t>
            </a:r>
            <a:r>
              <a:rPr spc="-660" dirty="0"/>
              <a:t>유의사항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6630650" y="9700679"/>
            <a:ext cx="339090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350" b="0" i="0">
                <a:solidFill>
                  <a:srgbClr val="919090"/>
                </a:solidFill>
                <a:latin typeface="Dotum"/>
                <a:cs typeface="Dotum"/>
              </a:defRPr>
            </a:lvl1pPr>
          </a:lstStyle>
          <a:p>
            <a:pPr marL="160020">
              <a:lnSpc>
                <a:spcPts val="1568"/>
              </a:lnSpc>
            </a:pPr>
            <a:fld id="{81D60167-4931-47E6-BA6A-407CBD079E47}" type="slidenum">
              <a:rPr lang="en-US" altLang="ko-KR" spc="-75"/>
              <a:pPr marL="160020">
                <a:lnSpc>
                  <a:spcPts val="1568"/>
                </a:lnSpc>
              </a:pPr>
              <a:t>36</a:t>
            </a:fld>
            <a:endParaRPr spc="-38" dirty="0"/>
          </a:p>
        </p:txBody>
      </p:sp>
      <p:sp>
        <p:nvSpPr>
          <p:cNvPr id="3" name="object 3"/>
          <p:cNvSpPr txBox="1"/>
          <p:nvPr/>
        </p:nvSpPr>
        <p:spPr>
          <a:xfrm>
            <a:off x="1203960" y="1793747"/>
            <a:ext cx="15681960" cy="4264629"/>
          </a:xfrm>
          <a:prstGeom prst="rect">
            <a:avLst/>
          </a:prstGeom>
        </p:spPr>
        <p:txBody>
          <a:bodyPr vert="horz" wrap="square" lIns="0" tIns="169545" rIns="0" bIns="0" rtlCol="0">
            <a:spAutoFit/>
          </a:bodyPr>
          <a:lstStyle/>
          <a:p>
            <a:pPr marL="275273" indent="-256223">
              <a:spcBef>
                <a:spcPts val="1335"/>
              </a:spcBef>
              <a:buFont typeface="Arial"/>
              <a:buChar char="•"/>
              <a:tabLst>
                <a:tab pos="275273" algn="l"/>
              </a:tabLst>
            </a:pPr>
            <a:r>
              <a:rPr sz="3600" spc="-510" dirty="0">
                <a:solidFill>
                  <a:srgbClr val="393838"/>
                </a:solidFill>
                <a:latin typeface="Dotum"/>
                <a:cs typeface="Dotum"/>
              </a:rPr>
              <a:t>문제번호와</a:t>
            </a:r>
            <a:r>
              <a:rPr sz="3600" spc="-315" dirty="0">
                <a:solidFill>
                  <a:srgbClr val="393838"/>
                </a:solidFill>
                <a:latin typeface="Dotum"/>
                <a:cs typeface="Dotum"/>
              </a:rPr>
              <a:t> </a:t>
            </a:r>
            <a:r>
              <a:rPr sz="3600" spc="-510" dirty="0">
                <a:solidFill>
                  <a:srgbClr val="393838"/>
                </a:solidFill>
                <a:latin typeface="Dotum"/>
                <a:cs typeface="Dotum"/>
              </a:rPr>
              <a:t>과제명을</a:t>
            </a:r>
            <a:r>
              <a:rPr sz="3600" spc="-285" dirty="0">
                <a:solidFill>
                  <a:srgbClr val="393838"/>
                </a:solidFill>
                <a:latin typeface="Dotum"/>
                <a:cs typeface="Dotum"/>
              </a:rPr>
              <a:t> </a:t>
            </a:r>
            <a:r>
              <a:rPr sz="3600" spc="-510" dirty="0">
                <a:solidFill>
                  <a:srgbClr val="393838"/>
                </a:solidFill>
                <a:latin typeface="Dotum"/>
                <a:cs typeface="Dotum"/>
              </a:rPr>
              <a:t>기재하고</a:t>
            </a:r>
            <a:r>
              <a:rPr sz="3600" spc="-306" dirty="0">
                <a:solidFill>
                  <a:srgbClr val="393838"/>
                </a:solidFill>
                <a:latin typeface="Dotum"/>
                <a:cs typeface="Dotum"/>
              </a:rPr>
              <a:t> </a:t>
            </a:r>
            <a:r>
              <a:rPr sz="3600" spc="-510" dirty="0">
                <a:solidFill>
                  <a:srgbClr val="393838"/>
                </a:solidFill>
                <a:latin typeface="Dotum"/>
                <a:cs typeface="Dotum"/>
              </a:rPr>
              <a:t>답안을</a:t>
            </a:r>
            <a:r>
              <a:rPr sz="3600" spc="-285" dirty="0">
                <a:solidFill>
                  <a:srgbClr val="393838"/>
                </a:solidFill>
                <a:latin typeface="Dotum"/>
                <a:cs typeface="Dotum"/>
              </a:rPr>
              <a:t> </a:t>
            </a:r>
            <a:r>
              <a:rPr sz="3600" spc="-518" dirty="0">
                <a:solidFill>
                  <a:srgbClr val="393838"/>
                </a:solidFill>
                <a:latin typeface="Dotum"/>
                <a:cs typeface="Dotum"/>
              </a:rPr>
              <a:t>작성한다.</a:t>
            </a:r>
            <a:endParaRPr sz="3600" dirty="0">
              <a:latin typeface="Dotum"/>
              <a:cs typeface="Dotum"/>
            </a:endParaRPr>
          </a:p>
          <a:p>
            <a:pPr marL="274320" marR="7620" indent="-256223">
              <a:spcBef>
                <a:spcPts val="1193"/>
              </a:spcBef>
              <a:buFont typeface="Arial"/>
              <a:buChar char="•"/>
              <a:tabLst>
                <a:tab pos="277178" algn="l"/>
              </a:tabLst>
            </a:pPr>
            <a:r>
              <a:rPr sz="3600" spc="-510" dirty="0" err="1">
                <a:solidFill>
                  <a:srgbClr val="393838"/>
                </a:solidFill>
                <a:latin typeface="Dotum"/>
                <a:cs typeface="Dotum"/>
              </a:rPr>
              <a:t>하나의</a:t>
            </a:r>
            <a:r>
              <a:rPr sz="3600" spc="-285" dirty="0">
                <a:solidFill>
                  <a:srgbClr val="393838"/>
                </a:solidFill>
                <a:latin typeface="Dotum"/>
                <a:cs typeface="Dotum"/>
              </a:rPr>
              <a:t> </a:t>
            </a:r>
            <a:r>
              <a:rPr sz="3600" spc="-45" dirty="0">
                <a:solidFill>
                  <a:srgbClr val="393838"/>
                </a:solidFill>
                <a:latin typeface="Dotum"/>
                <a:cs typeface="Dotum"/>
              </a:rPr>
              <a:t>pdf</a:t>
            </a:r>
            <a:r>
              <a:rPr sz="3600" spc="-306" dirty="0">
                <a:solidFill>
                  <a:srgbClr val="393838"/>
                </a:solidFill>
                <a:latin typeface="Dotum"/>
                <a:cs typeface="Dotum"/>
              </a:rPr>
              <a:t> </a:t>
            </a:r>
            <a:r>
              <a:rPr sz="3600" spc="-510" dirty="0">
                <a:solidFill>
                  <a:srgbClr val="393838"/>
                </a:solidFill>
                <a:latin typeface="Dotum"/>
                <a:cs typeface="Dotum"/>
              </a:rPr>
              <a:t>파일로</a:t>
            </a:r>
            <a:r>
              <a:rPr sz="3600" spc="-278" dirty="0">
                <a:solidFill>
                  <a:srgbClr val="393838"/>
                </a:solidFill>
                <a:latin typeface="Dotum"/>
                <a:cs typeface="Dotum"/>
              </a:rPr>
              <a:t> </a:t>
            </a:r>
            <a:r>
              <a:rPr sz="3600" spc="-503" dirty="0">
                <a:solidFill>
                  <a:srgbClr val="393838"/>
                </a:solidFill>
                <a:latin typeface="Dotum"/>
                <a:cs typeface="Dotum"/>
              </a:rPr>
              <a:t>작성하며,</a:t>
            </a:r>
            <a:r>
              <a:rPr sz="3600" spc="-300" dirty="0">
                <a:solidFill>
                  <a:srgbClr val="393838"/>
                </a:solidFill>
                <a:latin typeface="Dotum"/>
                <a:cs typeface="Dotum"/>
              </a:rPr>
              <a:t> </a:t>
            </a:r>
            <a:r>
              <a:rPr sz="3600" spc="-510" dirty="0">
                <a:solidFill>
                  <a:srgbClr val="393838"/>
                </a:solidFill>
                <a:latin typeface="Dotum"/>
                <a:cs typeface="Dotum"/>
              </a:rPr>
              <a:t>보조파일을</a:t>
            </a:r>
            <a:r>
              <a:rPr sz="3600" spc="-278" dirty="0">
                <a:solidFill>
                  <a:srgbClr val="393838"/>
                </a:solidFill>
                <a:latin typeface="Dotum"/>
                <a:cs typeface="Dotum"/>
              </a:rPr>
              <a:t> </a:t>
            </a:r>
            <a:r>
              <a:rPr sz="3600" spc="-510" dirty="0">
                <a:solidFill>
                  <a:srgbClr val="393838"/>
                </a:solidFill>
                <a:latin typeface="Dotum"/>
                <a:cs typeface="Dotum"/>
              </a:rPr>
              <a:t>제출하지</a:t>
            </a:r>
            <a:r>
              <a:rPr sz="3600" spc="-300" dirty="0">
                <a:solidFill>
                  <a:srgbClr val="393838"/>
                </a:solidFill>
                <a:latin typeface="Dotum"/>
                <a:cs typeface="Dotum"/>
              </a:rPr>
              <a:t> </a:t>
            </a:r>
            <a:r>
              <a:rPr sz="3600" spc="-585" dirty="0">
                <a:solidFill>
                  <a:srgbClr val="393838"/>
                </a:solidFill>
                <a:latin typeface="Dotum"/>
                <a:cs typeface="Dotum"/>
              </a:rPr>
              <a:t>않 </a:t>
            </a:r>
            <a:r>
              <a:rPr sz="3600" spc="-540" dirty="0" err="1">
                <a:solidFill>
                  <a:srgbClr val="393838"/>
                </a:solidFill>
                <a:latin typeface="Dotum"/>
                <a:cs typeface="Dotum"/>
              </a:rPr>
              <a:t>는다</a:t>
            </a:r>
            <a:r>
              <a:rPr sz="3600" spc="-540" dirty="0">
                <a:solidFill>
                  <a:srgbClr val="393838"/>
                </a:solidFill>
                <a:latin typeface="Dotum"/>
                <a:cs typeface="Dotum"/>
              </a:rPr>
              <a:t>.</a:t>
            </a:r>
            <a:endParaRPr sz="3600" dirty="0">
              <a:latin typeface="Dotum"/>
              <a:cs typeface="Dotum"/>
            </a:endParaRPr>
          </a:p>
          <a:p>
            <a:pPr marL="275273" indent="-256223">
              <a:spcBef>
                <a:spcPts val="1208"/>
              </a:spcBef>
              <a:buFont typeface="Arial"/>
              <a:buChar char="•"/>
              <a:tabLst>
                <a:tab pos="275273" algn="l"/>
              </a:tabLst>
            </a:pPr>
            <a:r>
              <a:rPr lang="en-US" altLang="ko-KR" sz="3600" spc="-510" dirty="0">
                <a:solidFill>
                  <a:srgbClr val="393838"/>
                </a:solidFill>
                <a:latin typeface="Dotum"/>
                <a:cs typeface="Dotum"/>
              </a:rPr>
              <a:t>ERD </a:t>
            </a:r>
            <a:r>
              <a:rPr lang="ko-KR" altLang="en-US" sz="3600" spc="-510" dirty="0">
                <a:solidFill>
                  <a:srgbClr val="393838"/>
                </a:solidFill>
                <a:latin typeface="Dotum"/>
                <a:cs typeface="Dotum"/>
              </a:rPr>
              <a:t>작성의 경우 어떤 도구를 사용해도 무방함</a:t>
            </a:r>
            <a:r>
              <a:rPr lang="en-US" altLang="ko-KR" sz="3600" spc="-510" dirty="0">
                <a:solidFill>
                  <a:srgbClr val="393838"/>
                </a:solidFill>
                <a:latin typeface="Dotum"/>
                <a:cs typeface="Dotum"/>
              </a:rPr>
              <a:t>(</a:t>
            </a:r>
            <a:r>
              <a:rPr lang="ko-KR" altLang="en-US" sz="3600" spc="-510" dirty="0">
                <a:solidFill>
                  <a:srgbClr val="393838"/>
                </a:solidFill>
                <a:latin typeface="Dotum"/>
                <a:cs typeface="Dotum"/>
              </a:rPr>
              <a:t>손그림도 무방</a:t>
            </a:r>
            <a:r>
              <a:rPr lang="en-US" altLang="ko-KR" sz="3600" spc="-510" dirty="0">
                <a:solidFill>
                  <a:srgbClr val="393838"/>
                </a:solidFill>
                <a:latin typeface="Dotum"/>
                <a:cs typeface="Dotum"/>
              </a:rPr>
              <a:t>)</a:t>
            </a:r>
          </a:p>
          <a:p>
            <a:pPr marL="275273" indent="-256223">
              <a:spcBef>
                <a:spcPts val="1208"/>
              </a:spcBef>
              <a:buFont typeface="Arial"/>
              <a:buChar char="•"/>
              <a:tabLst>
                <a:tab pos="275273" algn="l"/>
              </a:tabLst>
            </a:pPr>
            <a:endParaRPr lang="en-US" altLang="ko-KR" sz="3600" spc="-510" dirty="0">
              <a:solidFill>
                <a:srgbClr val="393838"/>
              </a:solidFill>
              <a:latin typeface="Dotum"/>
              <a:cs typeface="Dotum"/>
            </a:endParaRPr>
          </a:p>
          <a:p>
            <a:pPr marL="275273" indent="-256223">
              <a:spcBef>
                <a:spcPts val="1208"/>
              </a:spcBef>
              <a:buFont typeface="Arial"/>
              <a:buChar char="•"/>
              <a:tabLst>
                <a:tab pos="275273" algn="l"/>
              </a:tabLst>
            </a:pPr>
            <a:r>
              <a:rPr sz="3600" spc="-510" dirty="0" err="1">
                <a:solidFill>
                  <a:srgbClr val="393838"/>
                </a:solidFill>
                <a:latin typeface="Dotum"/>
                <a:cs typeface="Dotum"/>
              </a:rPr>
              <a:t>과제물과</a:t>
            </a:r>
            <a:r>
              <a:rPr sz="3600" spc="-315" dirty="0">
                <a:solidFill>
                  <a:srgbClr val="393838"/>
                </a:solidFill>
                <a:latin typeface="Dotum"/>
                <a:cs typeface="Dotum"/>
              </a:rPr>
              <a:t> </a:t>
            </a:r>
            <a:r>
              <a:rPr sz="3600" spc="-510" dirty="0">
                <a:solidFill>
                  <a:srgbClr val="393838"/>
                </a:solidFill>
                <a:latin typeface="Dotum"/>
                <a:cs typeface="Dotum"/>
              </a:rPr>
              <a:t>관련없는</a:t>
            </a:r>
            <a:r>
              <a:rPr sz="3600" spc="-293" dirty="0">
                <a:solidFill>
                  <a:srgbClr val="393838"/>
                </a:solidFill>
                <a:latin typeface="Dotum"/>
                <a:cs typeface="Dotum"/>
              </a:rPr>
              <a:t> </a:t>
            </a:r>
            <a:r>
              <a:rPr sz="3600" spc="-465" dirty="0">
                <a:solidFill>
                  <a:srgbClr val="393838"/>
                </a:solidFill>
                <a:latin typeface="Dotum"/>
                <a:cs typeface="Dotum"/>
              </a:rPr>
              <a:t>내용(본인의</a:t>
            </a:r>
            <a:r>
              <a:rPr sz="3600" spc="-300" dirty="0">
                <a:solidFill>
                  <a:srgbClr val="393838"/>
                </a:solidFill>
                <a:latin typeface="Dotum"/>
                <a:cs typeface="Dotum"/>
              </a:rPr>
              <a:t> </a:t>
            </a:r>
            <a:r>
              <a:rPr sz="3600" spc="-495" dirty="0">
                <a:solidFill>
                  <a:srgbClr val="393838"/>
                </a:solidFill>
                <a:latin typeface="Dotum"/>
                <a:cs typeface="Dotum"/>
              </a:rPr>
              <a:t>연령,</a:t>
            </a:r>
            <a:r>
              <a:rPr sz="3600" spc="-293" dirty="0">
                <a:solidFill>
                  <a:srgbClr val="393838"/>
                </a:solidFill>
                <a:latin typeface="Dotum"/>
                <a:cs typeface="Dotum"/>
              </a:rPr>
              <a:t> </a:t>
            </a:r>
            <a:r>
              <a:rPr sz="3600" spc="-495" dirty="0">
                <a:solidFill>
                  <a:srgbClr val="393838"/>
                </a:solidFill>
                <a:latin typeface="Dotum"/>
                <a:cs typeface="Dotum"/>
              </a:rPr>
              <a:t>직급,</a:t>
            </a:r>
            <a:r>
              <a:rPr sz="3600" spc="-300" dirty="0">
                <a:solidFill>
                  <a:srgbClr val="393838"/>
                </a:solidFill>
                <a:latin typeface="Dotum"/>
                <a:cs typeface="Dotum"/>
              </a:rPr>
              <a:t> </a:t>
            </a:r>
            <a:r>
              <a:rPr sz="3600" spc="-510" dirty="0">
                <a:solidFill>
                  <a:srgbClr val="393838"/>
                </a:solidFill>
                <a:latin typeface="Dotum"/>
                <a:cs typeface="Dotum"/>
              </a:rPr>
              <a:t>인생철학</a:t>
            </a:r>
            <a:r>
              <a:rPr sz="3600" spc="-293" dirty="0">
                <a:solidFill>
                  <a:srgbClr val="393838"/>
                </a:solidFill>
                <a:latin typeface="Dotum"/>
                <a:cs typeface="Dotum"/>
              </a:rPr>
              <a:t> </a:t>
            </a:r>
            <a:r>
              <a:rPr sz="3600" spc="-413" dirty="0">
                <a:solidFill>
                  <a:srgbClr val="393838"/>
                </a:solidFill>
                <a:latin typeface="Dotum"/>
                <a:cs typeface="Dotum"/>
              </a:rPr>
              <a:t>등)은</a:t>
            </a:r>
            <a:r>
              <a:rPr sz="3600" spc="-306" dirty="0">
                <a:solidFill>
                  <a:srgbClr val="393838"/>
                </a:solidFill>
                <a:latin typeface="Dotum"/>
                <a:cs typeface="Dotum"/>
              </a:rPr>
              <a:t> </a:t>
            </a:r>
            <a:r>
              <a:rPr sz="3600" spc="-510" dirty="0">
                <a:solidFill>
                  <a:srgbClr val="393838"/>
                </a:solidFill>
                <a:latin typeface="Dotum"/>
                <a:cs typeface="Dotum"/>
              </a:rPr>
              <a:t>포함하지</a:t>
            </a:r>
            <a:r>
              <a:rPr sz="3600" spc="-278" dirty="0">
                <a:solidFill>
                  <a:srgbClr val="393838"/>
                </a:solidFill>
                <a:latin typeface="Dotum"/>
                <a:cs typeface="Dotum"/>
              </a:rPr>
              <a:t> </a:t>
            </a:r>
            <a:r>
              <a:rPr sz="3600" spc="-533" dirty="0">
                <a:solidFill>
                  <a:srgbClr val="393838"/>
                </a:solidFill>
                <a:latin typeface="Dotum"/>
                <a:cs typeface="Dotum"/>
              </a:rPr>
              <a:t>않는다.</a:t>
            </a:r>
            <a:endParaRPr sz="3600" dirty="0">
              <a:latin typeface="Dotum"/>
              <a:cs typeface="Dotum"/>
            </a:endParaRPr>
          </a:p>
          <a:p>
            <a:pPr marL="275273" indent="-256223">
              <a:spcBef>
                <a:spcPts val="1200"/>
              </a:spcBef>
              <a:buFont typeface="Arial"/>
              <a:buChar char="•"/>
              <a:tabLst>
                <a:tab pos="275273" algn="l"/>
              </a:tabLst>
            </a:pPr>
            <a:r>
              <a:rPr sz="3600" spc="-510" dirty="0">
                <a:solidFill>
                  <a:srgbClr val="393838"/>
                </a:solidFill>
                <a:latin typeface="Dotum"/>
                <a:cs typeface="Dotum"/>
              </a:rPr>
              <a:t>본인이</a:t>
            </a:r>
            <a:r>
              <a:rPr sz="3600" spc="-300" dirty="0">
                <a:solidFill>
                  <a:srgbClr val="393838"/>
                </a:solidFill>
                <a:latin typeface="Dotum"/>
                <a:cs typeface="Dotum"/>
              </a:rPr>
              <a:t> </a:t>
            </a:r>
            <a:r>
              <a:rPr sz="3600" spc="-510" dirty="0">
                <a:solidFill>
                  <a:srgbClr val="393838"/>
                </a:solidFill>
                <a:latin typeface="Dotum"/>
                <a:cs typeface="Dotum"/>
              </a:rPr>
              <a:t>직접</a:t>
            </a:r>
            <a:r>
              <a:rPr sz="3600" spc="-306" dirty="0">
                <a:solidFill>
                  <a:srgbClr val="393838"/>
                </a:solidFill>
                <a:latin typeface="Dotum"/>
                <a:cs typeface="Dotum"/>
              </a:rPr>
              <a:t> </a:t>
            </a:r>
            <a:r>
              <a:rPr sz="3600" spc="-510" dirty="0" err="1">
                <a:solidFill>
                  <a:srgbClr val="393838"/>
                </a:solidFill>
                <a:latin typeface="Dotum"/>
                <a:cs typeface="Dotum"/>
              </a:rPr>
              <a:t>작성한</a:t>
            </a:r>
            <a:r>
              <a:rPr sz="3600" spc="-293" dirty="0">
                <a:solidFill>
                  <a:srgbClr val="393838"/>
                </a:solidFill>
                <a:latin typeface="Dotum"/>
                <a:cs typeface="Dotum"/>
              </a:rPr>
              <a:t> </a:t>
            </a:r>
            <a:r>
              <a:rPr sz="3600" spc="-503" dirty="0" err="1">
                <a:solidFill>
                  <a:srgbClr val="393838"/>
                </a:solidFill>
                <a:latin typeface="Dotum"/>
                <a:cs typeface="Dotum"/>
              </a:rPr>
              <a:t>결과물</a:t>
            </a:r>
            <a:r>
              <a:rPr sz="3600" spc="-503" dirty="0">
                <a:solidFill>
                  <a:srgbClr val="393838"/>
                </a:solidFill>
                <a:latin typeface="Dotum"/>
                <a:cs typeface="Dotum"/>
              </a:rPr>
              <a:t>,</a:t>
            </a:r>
            <a:r>
              <a:rPr sz="3600" spc="-306" dirty="0">
                <a:solidFill>
                  <a:srgbClr val="393838"/>
                </a:solidFill>
                <a:latin typeface="Dotum"/>
                <a:cs typeface="Dotum"/>
              </a:rPr>
              <a:t> </a:t>
            </a:r>
            <a:r>
              <a:rPr sz="3600" spc="-510" dirty="0">
                <a:solidFill>
                  <a:srgbClr val="393838"/>
                </a:solidFill>
                <a:latin typeface="Dotum"/>
                <a:cs typeface="Dotum"/>
              </a:rPr>
              <a:t>해설만</a:t>
            </a:r>
            <a:r>
              <a:rPr sz="3600" spc="-293" dirty="0">
                <a:solidFill>
                  <a:srgbClr val="393838"/>
                </a:solidFill>
                <a:latin typeface="Dotum"/>
                <a:cs typeface="Dotum"/>
              </a:rPr>
              <a:t> </a:t>
            </a:r>
            <a:r>
              <a:rPr sz="3600" spc="-503" dirty="0">
                <a:solidFill>
                  <a:srgbClr val="393838"/>
                </a:solidFill>
                <a:latin typeface="Dotum"/>
                <a:cs typeface="Dotum"/>
              </a:rPr>
              <a:t>포함한다.</a:t>
            </a:r>
            <a:r>
              <a:rPr sz="3600" spc="-306" dirty="0">
                <a:solidFill>
                  <a:srgbClr val="393838"/>
                </a:solidFill>
                <a:latin typeface="Dotum"/>
                <a:cs typeface="Dotum"/>
              </a:rPr>
              <a:t> </a:t>
            </a:r>
            <a:r>
              <a:rPr sz="3600" spc="-450" dirty="0">
                <a:solidFill>
                  <a:srgbClr val="393838"/>
                </a:solidFill>
                <a:latin typeface="Dotum"/>
                <a:cs typeface="Dotum"/>
              </a:rPr>
              <a:t>(</a:t>
            </a:r>
            <a:r>
              <a:rPr sz="3600" b="1" spc="-450" dirty="0">
                <a:solidFill>
                  <a:srgbClr val="FF0000"/>
                </a:solidFill>
                <a:latin typeface="Malgun Gothic"/>
                <a:cs typeface="Malgun Gothic"/>
              </a:rPr>
              <a:t>부정행위</a:t>
            </a:r>
            <a:r>
              <a:rPr sz="3600" b="1" spc="-398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3600" b="1" spc="-510" dirty="0">
                <a:solidFill>
                  <a:srgbClr val="FF0000"/>
                </a:solidFill>
                <a:latin typeface="Malgun Gothic"/>
                <a:cs typeface="Malgun Gothic"/>
              </a:rPr>
              <a:t>할</a:t>
            </a:r>
            <a:r>
              <a:rPr sz="3600" b="1" spc="-353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3600" b="1" spc="-503" dirty="0">
                <a:solidFill>
                  <a:srgbClr val="FF0000"/>
                </a:solidFill>
                <a:latin typeface="Malgun Gothic"/>
                <a:cs typeface="Malgun Gothic"/>
              </a:rPr>
              <a:t>경우</a:t>
            </a:r>
            <a:r>
              <a:rPr sz="3600" b="1" spc="-37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3600" b="1" spc="-38" dirty="0">
                <a:solidFill>
                  <a:srgbClr val="FF0000"/>
                </a:solidFill>
                <a:latin typeface="Malgun Gothic"/>
                <a:cs typeface="Malgun Gothic"/>
              </a:rPr>
              <a:t>0점</a:t>
            </a:r>
            <a:r>
              <a:rPr sz="3600" spc="-38" dirty="0">
                <a:solidFill>
                  <a:srgbClr val="393838"/>
                </a:solidFill>
                <a:latin typeface="Dotum"/>
                <a:cs typeface="Dotum"/>
              </a:rPr>
              <a:t>)</a:t>
            </a:r>
            <a:endParaRPr sz="3600" dirty="0">
              <a:latin typeface="Dotum"/>
              <a:cs typeface="Dotum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CB8FA-BD46-97E7-B246-96A827F7C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32E97490-53B7-1468-B090-DBB6FA3F1918}"/>
              </a:ext>
            </a:extLst>
          </p:cNvPr>
          <p:cNvSpPr/>
          <p:nvPr/>
        </p:nvSpPr>
        <p:spPr>
          <a:xfrm>
            <a:off x="507222" y="9779778"/>
            <a:ext cx="17273556" cy="0"/>
          </a:xfrm>
          <a:prstGeom prst="line">
            <a:avLst/>
          </a:prstGeom>
          <a:ln w="9525" cap="flat">
            <a:solidFill>
              <a:srgbClr val="AFAFA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ED902A75-879A-B002-DB4C-33022CF0FB2F}"/>
              </a:ext>
            </a:extLst>
          </p:cNvPr>
          <p:cNvSpPr txBox="1"/>
          <p:nvPr/>
        </p:nvSpPr>
        <p:spPr>
          <a:xfrm>
            <a:off x="654050" y="1084026"/>
            <a:ext cx="9023350" cy="755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ko-KR" altLang="en-US" sz="4500" b="1" dirty="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프로젝트 관리 데이터베이스 설계</a:t>
            </a:r>
            <a:endParaRPr lang="en-US" sz="4500" b="1" dirty="0">
              <a:solidFill>
                <a:srgbClr val="EB1D26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52BBCAB4-4953-A992-A27B-F272A4E2AAD4}"/>
              </a:ext>
            </a:extLst>
          </p:cNvPr>
          <p:cNvSpPr txBox="1"/>
          <p:nvPr/>
        </p:nvSpPr>
        <p:spPr>
          <a:xfrm>
            <a:off x="687866" y="606425"/>
            <a:ext cx="2893533" cy="4197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ko-KR" altLang="en-US" sz="2499" b="1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출석수업과제물</a:t>
            </a:r>
            <a:endParaRPr lang="en-US" sz="2499" b="1" dirty="0">
              <a:solidFill>
                <a:srgbClr val="EB1D26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3" name="TextBox 17">
            <a:extLst>
              <a:ext uri="{FF2B5EF4-FFF2-40B4-BE49-F238E27FC236}">
                <a16:creationId xmlns:a16="http://schemas.microsoft.com/office/drawing/2014/main" id="{F4B061D1-D74C-17F0-B17F-CA31900FA114}"/>
              </a:ext>
            </a:extLst>
          </p:cNvPr>
          <p:cNvSpPr txBox="1"/>
          <p:nvPr/>
        </p:nvSpPr>
        <p:spPr>
          <a:xfrm>
            <a:off x="1100682" y="2095500"/>
            <a:ext cx="11929517" cy="1222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/>
              <a:t>한 회사에서 직원들이 여러 프로젝트에 참여하여 근무 시간을 기록하고 있다</a:t>
            </a:r>
            <a:r>
              <a:rPr lang="en-US" altLang="ko-KR" sz="2800" dirty="0"/>
              <a:t>. </a:t>
            </a:r>
            <a:r>
              <a:rPr lang="ko-KR" altLang="en-US" sz="2800" dirty="0"/>
              <a:t>현재 회사는 아래와 같은 하나의 테이블로 데이터를 관리하고 있다</a:t>
            </a:r>
            <a:r>
              <a:rPr lang="en-US" altLang="ko-KR" sz="2800" dirty="0"/>
              <a:t>.</a:t>
            </a:r>
            <a:endParaRPr lang="en-US" altLang="ko-KR" sz="2800" dirty="0"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30851C7-3C76-AE99-1828-532A3AD12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4972799"/>
              </p:ext>
            </p:extLst>
          </p:nvPr>
        </p:nvGraphicFramePr>
        <p:xfrm>
          <a:off x="507222" y="4076700"/>
          <a:ext cx="14275575" cy="246888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1586175">
                  <a:extLst>
                    <a:ext uri="{9D8B030D-6E8A-4147-A177-3AD203B41FA5}">
                      <a16:colId xmlns:a16="http://schemas.microsoft.com/office/drawing/2014/main" val="2667061973"/>
                    </a:ext>
                  </a:extLst>
                </a:gridCol>
                <a:gridCol w="1586175">
                  <a:extLst>
                    <a:ext uri="{9D8B030D-6E8A-4147-A177-3AD203B41FA5}">
                      <a16:colId xmlns:a16="http://schemas.microsoft.com/office/drawing/2014/main" val="2352359311"/>
                    </a:ext>
                  </a:extLst>
                </a:gridCol>
                <a:gridCol w="1586175">
                  <a:extLst>
                    <a:ext uri="{9D8B030D-6E8A-4147-A177-3AD203B41FA5}">
                      <a16:colId xmlns:a16="http://schemas.microsoft.com/office/drawing/2014/main" val="4262042904"/>
                    </a:ext>
                  </a:extLst>
                </a:gridCol>
                <a:gridCol w="1586175">
                  <a:extLst>
                    <a:ext uri="{9D8B030D-6E8A-4147-A177-3AD203B41FA5}">
                      <a16:colId xmlns:a16="http://schemas.microsoft.com/office/drawing/2014/main" val="2710896521"/>
                    </a:ext>
                  </a:extLst>
                </a:gridCol>
                <a:gridCol w="1586175">
                  <a:extLst>
                    <a:ext uri="{9D8B030D-6E8A-4147-A177-3AD203B41FA5}">
                      <a16:colId xmlns:a16="http://schemas.microsoft.com/office/drawing/2014/main" val="3745901095"/>
                    </a:ext>
                  </a:extLst>
                </a:gridCol>
                <a:gridCol w="1586175">
                  <a:extLst>
                    <a:ext uri="{9D8B030D-6E8A-4147-A177-3AD203B41FA5}">
                      <a16:colId xmlns:a16="http://schemas.microsoft.com/office/drawing/2014/main" val="1952345081"/>
                    </a:ext>
                  </a:extLst>
                </a:gridCol>
                <a:gridCol w="1586175">
                  <a:extLst>
                    <a:ext uri="{9D8B030D-6E8A-4147-A177-3AD203B41FA5}">
                      <a16:colId xmlns:a16="http://schemas.microsoft.com/office/drawing/2014/main" val="686249826"/>
                    </a:ext>
                  </a:extLst>
                </a:gridCol>
                <a:gridCol w="1586175">
                  <a:extLst>
                    <a:ext uri="{9D8B030D-6E8A-4147-A177-3AD203B41FA5}">
                      <a16:colId xmlns:a16="http://schemas.microsoft.com/office/drawing/2014/main" val="3787763796"/>
                    </a:ext>
                  </a:extLst>
                </a:gridCol>
                <a:gridCol w="1586175">
                  <a:extLst>
                    <a:ext uri="{9D8B030D-6E8A-4147-A177-3AD203B41FA5}">
                      <a16:colId xmlns:a16="http://schemas.microsoft.com/office/drawing/2014/main" val="12605449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emp_id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emp_name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dept_name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dept_phone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project_id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project_name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manager_name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manager_phone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hours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8686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김철수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개발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02-1111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쇼핑몰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이부장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010-5555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04536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김철수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개발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02-1111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추천시스템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박부장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010-6666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0774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이영희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개발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02-1111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쇼핑몰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이부장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010-5555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3324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박민수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마케팅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02-2222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광고분석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정팀장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010-7777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4359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정지훈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마케팅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02-2222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광고분석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 err="1"/>
                        <a:t>정팀장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010-7777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18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10403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03812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4EA86-A861-97C8-ABA9-6BDB2486F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39E80A2F-B024-D5B9-33D4-D4B894D8FD07}"/>
              </a:ext>
            </a:extLst>
          </p:cNvPr>
          <p:cNvSpPr/>
          <p:nvPr/>
        </p:nvSpPr>
        <p:spPr>
          <a:xfrm>
            <a:off x="507222" y="9779778"/>
            <a:ext cx="17273556" cy="0"/>
          </a:xfrm>
          <a:prstGeom prst="line">
            <a:avLst/>
          </a:prstGeom>
          <a:ln w="9525" cap="flat">
            <a:solidFill>
              <a:srgbClr val="AFAFA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9EF3F53-7CC6-0470-95D3-C309BD85BEF5}"/>
              </a:ext>
            </a:extLst>
          </p:cNvPr>
          <p:cNvSpPr txBox="1"/>
          <p:nvPr/>
        </p:nvSpPr>
        <p:spPr>
          <a:xfrm>
            <a:off x="654050" y="1084026"/>
            <a:ext cx="9023350" cy="755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ko-KR" altLang="en-US" sz="4500" b="1" dirty="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프로젝트 관리 데이터베이스 설계</a:t>
            </a:r>
            <a:endParaRPr lang="en-US" sz="4500" b="1" dirty="0">
              <a:solidFill>
                <a:srgbClr val="EB1D26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CA99A75C-A213-576D-14A6-426D1401DB38}"/>
              </a:ext>
            </a:extLst>
          </p:cNvPr>
          <p:cNvSpPr txBox="1"/>
          <p:nvPr/>
        </p:nvSpPr>
        <p:spPr>
          <a:xfrm>
            <a:off x="687866" y="606425"/>
            <a:ext cx="2893533" cy="4197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ko-KR" altLang="en-US" sz="2499" b="1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출석수업과제물</a:t>
            </a:r>
            <a:endParaRPr lang="en-US" sz="2499" b="1" dirty="0">
              <a:solidFill>
                <a:srgbClr val="EB1D26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3" name="TextBox 17">
            <a:extLst>
              <a:ext uri="{FF2B5EF4-FFF2-40B4-BE49-F238E27FC236}">
                <a16:creationId xmlns:a16="http://schemas.microsoft.com/office/drawing/2014/main" id="{F8E2B8F5-5159-E769-5543-B10609987113}"/>
              </a:ext>
            </a:extLst>
          </p:cNvPr>
          <p:cNvSpPr txBox="1"/>
          <p:nvPr/>
        </p:nvSpPr>
        <p:spPr>
          <a:xfrm>
            <a:off x="1100682" y="2095500"/>
            <a:ext cx="11929517" cy="63948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/>
              <a:t>문제 </a:t>
            </a:r>
            <a:r>
              <a:rPr lang="en-US" altLang="ko-KR" sz="2800" dirty="0"/>
              <a:t>1. </a:t>
            </a:r>
            <a:r>
              <a:rPr lang="ko-KR" altLang="en-US" sz="2800" dirty="0"/>
              <a:t>기본 키 찾기</a:t>
            </a:r>
            <a:r>
              <a:rPr lang="en-US" altLang="ko-KR" sz="2800" dirty="0"/>
              <a:t>(5)</a:t>
            </a:r>
            <a:br>
              <a:rPr lang="en-US" altLang="ko-KR" sz="2800" dirty="0"/>
            </a:br>
            <a:r>
              <a:rPr lang="ko-KR" altLang="en-US" sz="2800" dirty="0"/>
              <a:t>위 테이블에서 </a:t>
            </a:r>
            <a:r>
              <a:rPr lang="ko-KR" altLang="en-US" sz="2800" b="1" dirty="0"/>
              <a:t>각 행을 유일하게 식별할 수 있는 기본키</a:t>
            </a:r>
            <a:r>
              <a:rPr lang="ko-KR" altLang="en-US" sz="2800" dirty="0"/>
              <a:t>를 </a:t>
            </a:r>
            <a:r>
              <a:rPr lang="ko-KR" altLang="en-US" sz="2800" dirty="0" err="1"/>
              <a:t>찾으시오</a:t>
            </a:r>
            <a:r>
              <a:rPr lang="en-US" altLang="ko-KR" sz="2800" dirty="0"/>
              <a:t>.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문제 </a:t>
            </a:r>
            <a:r>
              <a:rPr lang="en-US" altLang="ko-KR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2. </a:t>
            </a:r>
            <a:r>
              <a:rPr lang="ko-KR" altLang="en-US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함수 종속 찾기</a:t>
            </a:r>
            <a:r>
              <a:rPr lang="en-US" altLang="ko-KR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(5)</a:t>
            </a:r>
            <a:br>
              <a:rPr lang="en-US" altLang="ko-KR" sz="2800" dirty="0">
                <a:latin typeface="Source Han Sans KR"/>
                <a:ea typeface="Source Han Sans KR"/>
                <a:cs typeface="Source Han Sans KR"/>
                <a:sym typeface="Source Han Sans KR"/>
              </a:rPr>
            </a:br>
            <a:r>
              <a:rPr lang="ko-KR" altLang="en-US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데이터를 분석하여 다음을 </a:t>
            </a:r>
            <a:r>
              <a:rPr lang="ko-KR" altLang="en-US" sz="2800" dirty="0" err="1">
                <a:latin typeface="Source Han Sans KR"/>
                <a:ea typeface="Source Han Sans KR"/>
                <a:cs typeface="Source Han Sans KR"/>
                <a:sym typeface="Source Han Sans KR"/>
              </a:rPr>
              <a:t>찾으시오</a:t>
            </a:r>
            <a:r>
              <a:rPr lang="en-US" altLang="ko-KR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.</a:t>
            </a:r>
          </a:p>
          <a:p>
            <a:pPr marL="800100" lvl="1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부분 함수 종속</a:t>
            </a:r>
            <a:endParaRPr lang="en-US" altLang="ko-KR" sz="2800" dirty="0"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800100" lvl="1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이행 함수 종속</a:t>
            </a:r>
            <a:endParaRPr lang="en-US" altLang="ko-KR" sz="2800" dirty="0"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문제 </a:t>
            </a:r>
            <a:r>
              <a:rPr lang="en-US" altLang="ko-KR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3. </a:t>
            </a:r>
            <a:r>
              <a:rPr lang="ko-KR" altLang="en-US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정규화</a:t>
            </a:r>
            <a:r>
              <a:rPr lang="en-US" altLang="ko-KR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(10)</a:t>
            </a:r>
            <a:br>
              <a:rPr lang="en-US" altLang="ko-KR" sz="2800" dirty="0">
                <a:latin typeface="Source Han Sans KR"/>
                <a:ea typeface="Source Han Sans KR"/>
                <a:cs typeface="Source Han Sans KR"/>
                <a:sym typeface="Source Han Sans KR"/>
              </a:rPr>
            </a:br>
            <a:r>
              <a:rPr lang="ko-KR" altLang="en-US" sz="2800" dirty="0"/>
              <a:t>위 테이블을 </a:t>
            </a:r>
            <a:r>
              <a:rPr lang="en-US" altLang="ko-KR" sz="2800" dirty="0"/>
              <a:t>3</a:t>
            </a:r>
            <a:r>
              <a:rPr lang="ko-KR" altLang="en-US" sz="2800" dirty="0"/>
              <a:t>단계까지 </a:t>
            </a:r>
            <a:r>
              <a:rPr lang="ko-KR" altLang="en-US" sz="2800" dirty="0" err="1"/>
              <a:t>정규화하시오</a:t>
            </a:r>
            <a:r>
              <a:rPr lang="en-US" altLang="ko-KR" sz="2800" dirty="0"/>
              <a:t>(</a:t>
            </a:r>
            <a:r>
              <a:rPr lang="ko-KR" altLang="en-US" sz="2800" dirty="0"/>
              <a:t>중간 단계 테이블을 모두 포함해야 하며</a:t>
            </a:r>
            <a:r>
              <a:rPr lang="en-US" altLang="ko-KR" sz="2800" dirty="0"/>
              <a:t>, PK/FK</a:t>
            </a:r>
            <a:r>
              <a:rPr lang="ko-KR" altLang="en-US" sz="2800" dirty="0"/>
              <a:t>를 표시해야 함</a:t>
            </a:r>
            <a:r>
              <a:rPr lang="en-US" altLang="ko-KR" sz="2800" dirty="0"/>
              <a:t>).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ko-KR" altLang="en-US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문제 </a:t>
            </a:r>
            <a:r>
              <a:rPr lang="en-US" altLang="ko-KR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4. ERD </a:t>
            </a:r>
            <a:r>
              <a:rPr lang="ko-KR" altLang="en-US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그리기</a:t>
            </a:r>
            <a:r>
              <a:rPr lang="en-US" altLang="ko-KR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(</a:t>
            </a:r>
            <a:r>
              <a:rPr lang="ko-KR" altLang="en-US" sz="2800" dirty="0" err="1">
                <a:latin typeface="Source Han Sans KR"/>
                <a:ea typeface="Source Han Sans KR"/>
                <a:cs typeface="Source Han Sans KR"/>
                <a:sym typeface="Source Han Sans KR"/>
              </a:rPr>
              <a:t>크로우풋</a:t>
            </a:r>
            <a:r>
              <a:rPr lang="ko-KR" altLang="en-US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 표기법</a:t>
            </a:r>
            <a:r>
              <a:rPr lang="en-US" altLang="ko-KR" sz="2800" dirty="0">
                <a:latin typeface="Source Han Sans KR"/>
                <a:ea typeface="Source Han Sans KR"/>
                <a:cs typeface="Source Han Sans KR"/>
                <a:sym typeface="Source Han Sans KR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447949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1088</TotalTime>
  <Words>1720</Words>
  <Application>Microsoft Office PowerPoint</Application>
  <PresentationFormat>사용자 지정</PresentationFormat>
  <Paragraphs>462</Paragraphs>
  <Slides>38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38</vt:i4>
      </vt:variant>
    </vt:vector>
  </HeadingPairs>
  <TitlesOfParts>
    <vt:vector size="48" baseType="lpstr">
      <vt:lpstr>페이퍼로지 6 SemiBold</vt:lpstr>
      <vt:lpstr>Dotum</vt:lpstr>
      <vt:lpstr>Arial</vt:lpstr>
      <vt:lpstr>Source Han Sans KR Medium</vt:lpstr>
      <vt:lpstr>Malgun Gothic</vt:lpstr>
      <vt:lpstr>Wingdings</vt:lpstr>
      <vt:lpstr>Calibri</vt:lpstr>
      <vt:lpstr>Source Han Sans KR Bold</vt:lpstr>
      <vt:lpstr>Source Han Sans KR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과제물 제출시 유의사항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레드 그레이 깔끔한 프로젝트 프레젠테이션</dc:title>
  <cp:lastModifiedBy>Elvenwhite Han</cp:lastModifiedBy>
  <cp:revision>8</cp:revision>
  <dcterms:created xsi:type="dcterms:W3CDTF">2006-08-16T00:00:00Z</dcterms:created>
  <dcterms:modified xsi:type="dcterms:W3CDTF">2026-03-08T06:55:28Z</dcterms:modified>
  <dc:identifier>DAHDRALbSGo</dc:identifier>
</cp:coreProperties>
</file>